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282" r:id="rId4"/>
    <p:sldId id="260" r:id="rId5"/>
    <p:sldId id="281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65" r:id="rId15"/>
    <p:sldId id="288" r:id="rId16"/>
    <p:sldId id="275" r:id="rId17"/>
    <p:sldId id="289" r:id="rId18"/>
    <p:sldId id="274" r:id="rId19"/>
    <p:sldId id="272" r:id="rId20"/>
    <p:sldId id="273" r:id="rId21"/>
    <p:sldId id="276" r:id="rId22"/>
    <p:sldId id="277" r:id="rId23"/>
    <p:sldId id="278" r:id="rId24"/>
    <p:sldId id="264" r:id="rId25"/>
    <p:sldId id="270" r:id="rId26"/>
    <p:sldId id="268" r:id="rId27"/>
    <p:sldId id="290" r:id="rId28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09" autoAdjust="0"/>
    <p:restoredTop sz="87136" autoAdjust="0"/>
  </p:normalViewPr>
  <p:slideViewPr>
    <p:cSldViewPr>
      <p:cViewPr varScale="1">
        <p:scale>
          <a:sx n="120" d="100"/>
          <a:sy n="120" d="100"/>
        </p:scale>
        <p:origin x="966" y="90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334B4-43C6-47FF-AFC7-2EEDB0EE66F7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D3552-2F95-4E0E-B0B8-68822BB826A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B437EE-D348-4D49-8D0B-E2A12F8E030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Explanation from preface: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computation should be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the sense that the only effect of execution should be to produce a result: it should be free from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side effects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such as I/O, assignments to mutable variables, redirecting pointers,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D3552-2F95-4E0E-B0B8-68822BB826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05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D3552-2F95-4E0E-B0B8-68822BB826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67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D3552-2F95-4E0E-B0B8-68822BB826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4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D3552-2F95-4E0E-B0B8-68822BB826A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788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D3552-2F95-4E0E-B0B8-68822BB826A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82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TODO: a bit about imp + security too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D3552-2F95-4E0E-B0B8-68822BB826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24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D3552-2F95-4E0E-B0B8-68822BB826A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86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D3552-2F95-4E0E-B0B8-68822BB826A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3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TODO: update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D3552-2F95-4E0E-B0B8-68822BB826A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98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TODO: not full convinced this was so helpful?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D3552-2F95-4E0E-B0B8-68822BB826A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47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4 color: no more than four colors are required to color the regions of any map so that no two adjacent regions have the same color</a:t>
            </a:r>
          </a:p>
          <a:p>
            <a:endParaRPr lang="en-US" dirty="0" smtClean="0"/>
          </a:p>
          <a:p>
            <a:r>
              <a:rPr lang="en-US" dirty="0" err="1" smtClean="0"/>
              <a:t>Feit</a:t>
            </a:r>
            <a:r>
              <a:rPr lang="en-US" dirty="0" smtClean="0"/>
              <a:t>-Thompson: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first major step in the classification of finite simple groups</a:t>
            </a:r>
          </a:p>
          <a:p>
            <a:r>
              <a:rPr lang="en-US" dirty="0" smtClean="0"/>
              <a:t>states that every finite group of odd order is solvable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Saved slide</a:t>
            </a:r>
            <a:r>
              <a:rPr lang="en-US" baseline="0" dirty="0" smtClean="0"/>
              <a:t> space:</a:t>
            </a:r>
          </a:p>
          <a:p>
            <a:pPr>
              <a:lnSpc>
                <a:spcPct val="120000"/>
              </a:lnSpc>
            </a:pPr>
            <a:r>
              <a:rPr lang="en-US" sz="2000" b="1" dirty="0" smtClean="0"/>
              <a:t>Odd order theorem (</a:t>
            </a:r>
            <a:r>
              <a:rPr lang="en-US" sz="2000" b="1" dirty="0" err="1" smtClean="0"/>
              <a:t>Feit</a:t>
            </a:r>
            <a:r>
              <a:rPr lang="en-US" sz="2000" b="1" dirty="0" smtClean="0"/>
              <a:t>-Thompson)</a:t>
            </a:r>
          </a:p>
          <a:p>
            <a:pPr lvl="1"/>
            <a:r>
              <a:rPr lang="en-US" sz="1800" dirty="0" err="1" smtClean="0"/>
              <a:t>Rocq</a:t>
            </a:r>
            <a:r>
              <a:rPr lang="en-US" sz="1800" dirty="0" smtClean="0"/>
              <a:t> proof from 2012 introduced the Mathematical Components library</a:t>
            </a: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Hales' proof of Kepler conjecture (HOL Light and Isabelle)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D3552-2F95-4E0E-B0B8-68822BB826A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40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6021-58C3-4E5D-8BBB-4314F2568516}" type="datetime1">
              <a:rPr lang="en-US" smtClean="0"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B0D8-CAA7-4329-BBEE-2722B0535505}" type="datetime1">
              <a:rPr lang="en-US" smtClean="0"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BB950-6BB1-4F84-8BB1-8261E03229D7}" type="datetime1">
              <a:rPr lang="en-US" smtClean="0"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3E42-D0E6-44FB-B701-FD74B390060D}" type="datetime1">
              <a:rPr lang="en-US" smtClean="0"/>
              <a:t>2026-04-15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372E4-3D07-4C00-BCD2-0C4366E79F13}" type="datetime1">
              <a:rPr lang="en-US" smtClean="0"/>
              <a:t>2026-04-15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57863-361C-4082-9348-6A60EAF4CF78}" type="datetime1">
              <a:rPr lang="en-US" smtClean="0"/>
              <a:t>2026-04-15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C4AD-9339-4E3E-BA65-ACDE4A64233E}" type="datetime1">
              <a:rPr lang="en-US" smtClean="0"/>
              <a:t>2026-04-15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3CB3-1185-4EB7-94FC-026336EF999E}" type="datetime1">
              <a:rPr lang="en-US" smtClean="0"/>
              <a:t>2026-04-15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0514-54E2-464B-829E-09FA4B9C1B21}" type="datetime1">
              <a:rPr lang="en-US" smtClean="0"/>
              <a:t>2026-04-15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CF43D-0ED1-4F29-8E1D-57BE7B33A4CE}" type="datetime1">
              <a:rPr lang="en-US" smtClean="0"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BCD8-AC7F-41EA-AADA-21D27CA8744F}" type="datetime1">
              <a:rPr lang="en-US" smtClean="0"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F7E12-C93A-4B3A-BC88-E4170706B5A5}" type="datetime1">
              <a:rPr lang="en-US" smtClean="0"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3BA9C-1FBB-4D46-B089-AB487B58273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hyperlink" Target="https://mpi-sp-pap-2026.github.io/book-secf" TargetMode="External"/><Relationship Id="rId4" Type="http://schemas.openxmlformats.org/officeDocument/2006/relationships/hyperlink" Target="https://mpi-sp-pap-2026.github.io/book-lf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064000"/>
            <a:ext cx="9144000" cy="10795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chemeClr val="tx1"/>
                </a:solidFill>
              </a:rPr>
              <a:t>Lecturers: </a:t>
            </a:r>
            <a:r>
              <a:rPr lang="en-US" sz="2800" dirty="0" smtClean="0">
                <a:solidFill>
                  <a:schemeClr val="tx1"/>
                </a:solidFill>
              </a:rPr>
              <a:t>C</a:t>
            </a:r>
            <a:r>
              <a:rPr lang="ro-RO" sz="2800" dirty="0">
                <a:solidFill>
                  <a:schemeClr val="tx1"/>
                </a:solidFill>
              </a:rPr>
              <a:t>ătălin </a:t>
            </a:r>
            <a:r>
              <a:rPr lang="ro-RO" sz="2800" dirty="0" smtClean="0">
                <a:solidFill>
                  <a:schemeClr val="tx1"/>
                </a:solidFill>
              </a:rPr>
              <a:t>Hrițcu</a:t>
            </a:r>
            <a:r>
              <a:rPr lang="en-US" sz="2800" dirty="0" smtClean="0">
                <a:solidFill>
                  <a:schemeClr val="tx1"/>
                </a:solidFill>
              </a:rPr>
              <a:t> and Clara Schneidewind</a:t>
            </a:r>
          </a:p>
          <a:p>
            <a:r>
              <a:rPr lang="en-US" sz="2800" b="1" dirty="0" smtClean="0">
                <a:solidFill>
                  <a:schemeClr val="tx1"/>
                </a:solidFill>
              </a:rPr>
              <a:t>   TAs:</a:t>
            </a:r>
            <a:r>
              <a:rPr lang="en-US" sz="2800" dirty="0" smtClean="0">
                <a:solidFill>
                  <a:schemeClr val="tx1"/>
                </a:solidFill>
              </a:rPr>
              <a:t> Yonghyun Kim </a:t>
            </a:r>
            <a:r>
              <a:rPr lang="en-US" sz="2800" dirty="0">
                <a:solidFill>
                  <a:schemeClr val="tx1"/>
                </a:solidFill>
              </a:rPr>
              <a:t>and </a:t>
            </a:r>
            <a:r>
              <a:rPr lang="en-US" sz="2800" dirty="0" smtClean="0">
                <a:solidFill>
                  <a:schemeClr val="tx1"/>
                </a:solidFill>
              </a:rPr>
              <a:t>Yan Farba</a:t>
            </a:r>
            <a:endParaRPr lang="en-US" sz="24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Max Planck Institute for Security and Privacy (MPI-SP)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EDDCC-B077-4820-BE21-09B982673849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6" t="7817" r="9025" b="13647"/>
          <a:stretch/>
        </p:blipFill>
        <p:spPr>
          <a:xfrm>
            <a:off x="2743200" y="2154354"/>
            <a:ext cx="1447800" cy="1600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45" t="4263" r="10087" b="22821"/>
          <a:stretch/>
        </p:blipFill>
        <p:spPr>
          <a:xfrm>
            <a:off x="5105401" y="2171700"/>
            <a:ext cx="1371600" cy="1600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9" t="4811" r="27253" b="27293"/>
          <a:stretch/>
        </p:blipFill>
        <p:spPr>
          <a:xfrm>
            <a:off x="7309888" y="2171700"/>
            <a:ext cx="1224512" cy="155846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2" r="9524"/>
          <a:stretch/>
        </p:blipFill>
        <p:spPr>
          <a:xfrm>
            <a:off x="533400" y="2173297"/>
            <a:ext cx="1371600" cy="159700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676400" y="489479"/>
            <a:ext cx="6794500" cy="1225021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C00000"/>
                </a:solidFill>
              </a:rPr>
              <a:t>Proofs are Programs</a:t>
            </a:r>
            <a:br>
              <a:rPr lang="en-US" sz="6000" b="1" dirty="0" smtClean="0">
                <a:solidFill>
                  <a:srgbClr val="C00000"/>
                </a:solidFill>
              </a:rPr>
            </a:br>
            <a:r>
              <a:rPr lang="en-US" sz="3200" b="1" dirty="0" smtClean="0">
                <a:solidFill>
                  <a:srgbClr val="C00000"/>
                </a:solidFill>
              </a:rPr>
              <a:t>Summer 2026 @ Ruhr Uni Bochum</a:t>
            </a:r>
            <a:endParaRPr lang="en-US" sz="4800" b="1" dirty="0">
              <a:solidFill>
                <a:srgbClr val="C00000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70" t="17193" r="27595" b="20475"/>
          <a:stretch/>
        </p:blipFill>
        <p:spPr>
          <a:xfrm>
            <a:off x="228600" y="596512"/>
            <a:ext cx="1463040" cy="128016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This course in a nutshell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264"/>
            <a:ext cx="8686800" cy="4076436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chemeClr val="tx2"/>
                </a:solidFill>
              </a:rPr>
              <a:t>Logic </a:t>
            </a:r>
            <a:r>
              <a:rPr lang="en-US" sz="2800" b="1" dirty="0">
                <a:solidFill>
                  <a:schemeClr val="tx2"/>
                </a:solidFill>
              </a:rPr>
              <a:t>and </a:t>
            </a:r>
            <a:r>
              <a:rPr lang="en-US" sz="2800" b="1" dirty="0" smtClean="0">
                <a:solidFill>
                  <a:schemeClr val="tx2"/>
                </a:solidFill>
              </a:rPr>
              <a:t>proofs</a:t>
            </a:r>
          </a:p>
          <a:p>
            <a:r>
              <a:rPr lang="en-US" sz="2800" b="1" dirty="0" smtClean="0">
                <a:solidFill>
                  <a:schemeClr val="tx2"/>
                </a:solidFill>
              </a:rPr>
              <a:t>Verifying functional programs</a:t>
            </a:r>
          </a:p>
          <a:p>
            <a:r>
              <a:rPr lang="en-US" sz="2800" b="1" dirty="0" smtClean="0">
                <a:solidFill>
                  <a:schemeClr val="tx2"/>
                </a:solidFill>
              </a:rPr>
              <a:t>Formalizing simple imperative language</a:t>
            </a:r>
          </a:p>
          <a:p>
            <a:r>
              <a:rPr lang="en-US" sz="2800" b="1" dirty="0" smtClean="0">
                <a:solidFill>
                  <a:schemeClr val="tx2"/>
                </a:solidFill>
              </a:rPr>
              <a:t>Secure information flow</a:t>
            </a:r>
          </a:p>
          <a:p>
            <a:r>
              <a:rPr lang="en-US" sz="2800" b="1" dirty="0" smtClean="0">
                <a:solidFill>
                  <a:srgbClr val="C00000"/>
                </a:solidFill>
              </a:rPr>
              <a:t>Using the </a:t>
            </a:r>
            <a:r>
              <a:rPr lang="en-US" sz="2800" b="1" dirty="0" err="1" smtClean="0">
                <a:solidFill>
                  <a:srgbClr val="C00000"/>
                </a:solidFill>
              </a:rPr>
              <a:t>Rocq</a:t>
            </a:r>
            <a:r>
              <a:rPr lang="en-US" sz="2800" b="1" dirty="0" smtClean="0">
                <a:solidFill>
                  <a:srgbClr val="C00000"/>
                </a:solidFill>
              </a:rPr>
              <a:t> proof assistant</a:t>
            </a:r>
          </a:p>
          <a:p>
            <a:pPr lvl="1"/>
            <a:r>
              <a:rPr lang="en-US" sz="2800" b="1" dirty="0" smtClean="0"/>
              <a:t>gentle introduction to both</a:t>
            </a:r>
            <a:br>
              <a:rPr lang="en-US" sz="2800" b="1" dirty="0" smtClean="0"/>
            </a:br>
            <a:r>
              <a:rPr lang="en-US" sz="2800" b="1" u="sng" dirty="0" smtClean="0"/>
              <a:t>functional programming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and </a:t>
            </a:r>
            <a:r>
              <a:rPr lang="en-US" sz="2800" b="1" u="sng" dirty="0" smtClean="0"/>
              <a:t>formal proofs</a:t>
            </a:r>
            <a:r>
              <a:rPr lang="en-US" sz="2800" b="1" dirty="0"/>
              <a:t> </a:t>
            </a:r>
            <a:r>
              <a:rPr lang="en-US" sz="2800" b="1" dirty="0" smtClean="0"/>
              <a:t>(both </a:t>
            </a:r>
            <a:r>
              <a:rPr lang="en-US" sz="2800" b="1" dirty="0"/>
              <a:t>in </a:t>
            </a:r>
            <a:r>
              <a:rPr lang="en-US" sz="2800" b="1" dirty="0" err="1" smtClean="0"/>
              <a:t>Rocq</a:t>
            </a:r>
            <a:r>
              <a:rPr lang="en-US" sz="2800" b="1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3390900"/>
            <a:ext cx="2209800" cy="40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6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The Rocq proof assistant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8700"/>
            <a:ext cx="8382000" cy="3771636"/>
          </a:xfrm>
        </p:spPr>
        <p:txBody>
          <a:bodyPr/>
          <a:lstStyle/>
          <a:p>
            <a:r>
              <a:rPr lang="en-US" sz="2400" dirty="0" smtClean="0"/>
              <a:t>Rocq developed </a:t>
            </a:r>
            <a:r>
              <a:rPr lang="en-US" sz="2400" dirty="0"/>
              <a:t>at Inria </a:t>
            </a:r>
            <a:r>
              <a:rPr lang="en-US" sz="2400" dirty="0" smtClean="0"/>
              <a:t>in France since </a:t>
            </a:r>
            <a:r>
              <a:rPr lang="en-US" sz="2400" dirty="0"/>
              <a:t>1983 (in OCaml</a:t>
            </a:r>
            <a:r>
              <a:rPr lang="en-US" sz="2400" dirty="0" smtClean="0"/>
              <a:t>)</a:t>
            </a:r>
          </a:p>
          <a:p>
            <a:pPr lvl="1"/>
            <a:r>
              <a:rPr lang="en-US" sz="2066" dirty="0" smtClean="0"/>
              <a:t>Formerly known as Coq (which in French means rooster)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Rocq </a:t>
            </a:r>
            <a:r>
              <a:rPr lang="en-US" sz="2400" b="1" dirty="0">
                <a:solidFill>
                  <a:schemeClr val="tx2"/>
                </a:solidFill>
              </a:rPr>
              <a:t>helps you build formal proofs interactively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Proving in </a:t>
            </a:r>
            <a:r>
              <a:rPr lang="en-US" sz="2400" b="1" dirty="0" smtClean="0">
                <a:solidFill>
                  <a:schemeClr val="tx2"/>
                </a:solidFill>
              </a:rPr>
              <a:t>Rocq </a:t>
            </a:r>
            <a:r>
              <a:rPr lang="en-US" sz="2400" b="1" dirty="0">
                <a:solidFill>
                  <a:schemeClr val="tx2"/>
                </a:solidFill>
              </a:rPr>
              <a:t>is like programming</a:t>
            </a:r>
          </a:p>
          <a:p>
            <a:pPr lvl="1"/>
            <a:r>
              <a:rPr lang="en-US" sz="2000" dirty="0"/>
              <a:t>gamified, addictive, and lots of fun</a:t>
            </a:r>
          </a:p>
          <a:p>
            <a:pPr lvl="1"/>
            <a:r>
              <a:rPr lang="en-US" sz="2000" dirty="0"/>
              <a:t>if you like programming, you will also like </a:t>
            </a:r>
            <a:r>
              <a:rPr lang="en-US" sz="2000" dirty="0" smtClean="0"/>
              <a:t>Rocq </a:t>
            </a:r>
            <a:r>
              <a:rPr lang="en-US" sz="2000" dirty="0"/>
              <a:t>proofs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This helps you deeply understand proofs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In fact, formal </a:t>
            </a:r>
            <a:r>
              <a:rPr lang="en-US" sz="2400" b="1" dirty="0" smtClean="0">
                <a:solidFill>
                  <a:schemeClr val="tx2"/>
                </a:solidFill>
              </a:rPr>
              <a:t>Rocq proofs </a:t>
            </a:r>
            <a:r>
              <a:rPr lang="en-US" sz="2400" b="1" dirty="0">
                <a:solidFill>
                  <a:schemeClr val="tx2"/>
                </a:solidFill>
              </a:rPr>
              <a:t>are just purely functional programs</a:t>
            </a:r>
          </a:p>
          <a:p>
            <a:pPr lvl="1"/>
            <a:r>
              <a:rPr lang="en-US" sz="2400" b="1" dirty="0" smtClean="0"/>
              <a:t>Curry-Howard correspondence (two extra chapters)</a:t>
            </a:r>
            <a:r>
              <a:rPr lang="en-US" sz="2400" dirty="0" smtClean="0"/>
              <a:t>:</a:t>
            </a:r>
            <a:br>
              <a:rPr lang="en-US" sz="2400" dirty="0" smtClean="0"/>
            </a:br>
            <a:r>
              <a:rPr lang="en-US" sz="2400" dirty="0" smtClean="0"/>
              <a:t>deep </a:t>
            </a:r>
            <a:r>
              <a:rPr lang="en-US" sz="2400" dirty="0"/>
              <a:t>connection between logic and </a:t>
            </a:r>
            <a:r>
              <a:rPr lang="en-US" sz="2400" dirty="0" smtClean="0"/>
              <a:t>functional programming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70" t="17193" r="27595" b="20475"/>
          <a:stretch/>
        </p:blipFill>
        <p:spPr>
          <a:xfrm>
            <a:off x="393972" y="39925"/>
            <a:ext cx="1130028" cy="9887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723900"/>
            <a:ext cx="1524000" cy="16903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39000" y="2257433"/>
            <a:ext cx="1921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["Le Coq mécanisé"</a:t>
            </a:r>
            <a:b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  picture by Lilia Anisimova]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67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Functional programming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2500"/>
            <a:ext cx="8534400" cy="43434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Write computations as </a:t>
            </a:r>
            <a:r>
              <a:rPr lang="en-US" sz="2400" b="1" dirty="0" smtClean="0">
                <a:solidFill>
                  <a:schemeClr val="tx2"/>
                </a:solidFill>
              </a:rPr>
              <a:t>recursive functions</a:t>
            </a:r>
            <a:endParaRPr lang="en-US" sz="2400" b="1" dirty="0"/>
          </a:p>
          <a:p>
            <a:pPr lvl="1"/>
            <a:r>
              <a:rPr lang="en-US" sz="1800" b="1" dirty="0"/>
              <a:t>using </a:t>
            </a:r>
            <a:r>
              <a:rPr lang="en-US" sz="1800" b="1" u="sng" dirty="0"/>
              <a:t>recursion</a:t>
            </a:r>
            <a:r>
              <a:rPr lang="en-US" sz="1800" b="1" dirty="0"/>
              <a:t>, </a:t>
            </a:r>
            <a:r>
              <a:rPr lang="en-US" sz="1800" b="1" u="sng" dirty="0"/>
              <a:t>immutable datatypes</a:t>
            </a:r>
            <a:r>
              <a:rPr lang="en-US" sz="1800" b="1" dirty="0"/>
              <a:t>, and </a:t>
            </a:r>
            <a:r>
              <a:rPr lang="en-US" sz="1800" b="1" u="sng" dirty="0"/>
              <a:t>pattern matching</a:t>
            </a:r>
          </a:p>
          <a:p>
            <a:pPr lvl="1"/>
            <a:r>
              <a:rPr lang="en-US" sz="1800" b="1" dirty="0">
                <a:solidFill>
                  <a:srgbClr val="C00000"/>
                </a:solidFill>
              </a:rPr>
              <a:t>limit side-effects</a:t>
            </a:r>
            <a:r>
              <a:rPr lang="en-US" sz="1800" dirty="0"/>
              <a:t>, such as </a:t>
            </a:r>
            <a:r>
              <a:rPr lang="en-US" sz="1800" b="1" u="sng" dirty="0">
                <a:solidFill>
                  <a:srgbClr val="C00000"/>
                </a:solidFill>
              </a:rPr>
              <a:t>mutating</a:t>
            </a:r>
            <a:r>
              <a:rPr lang="en-US" sz="1800" dirty="0"/>
              <a:t> stateful data </a:t>
            </a:r>
            <a:r>
              <a:rPr lang="en-US" sz="1800" dirty="0" smtClean="0"/>
              <a:t>structures</a:t>
            </a:r>
            <a:endParaRPr lang="en-US" sz="2800" b="1" dirty="0" smtClean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400" b="1" dirty="0" err="1" smtClean="0"/>
              <a:t>Rocq</a:t>
            </a:r>
            <a:r>
              <a:rPr lang="en-US" sz="2400" b="1" dirty="0" smtClean="0"/>
              <a:t> is </a:t>
            </a:r>
            <a:r>
              <a:rPr lang="en-US" sz="2400" b="1" u="sng" dirty="0" smtClean="0"/>
              <a:t>purely</a:t>
            </a:r>
            <a:r>
              <a:rPr lang="en-US" sz="2400" b="1" dirty="0" smtClean="0"/>
              <a:t> functional = zero side-effects</a:t>
            </a:r>
          </a:p>
          <a:p>
            <a:pPr lvl="1">
              <a:lnSpc>
                <a:spcPct val="120000"/>
              </a:lnSpc>
            </a:pPr>
            <a:r>
              <a:rPr lang="en-US" sz="2000" dirty="0" smtClean="0"/>
              <a:t>all computations are </a:t>
            </a:r>
            <a:r>
              <a:rPr lang="en-US" sz="2000" u="sng" dirty="0" smtClean="0"/>
              <a:t>mathematical</a:t>
            </a:r>
            <a:r>
              <a:rPr lang="en-US" sz="2000" dirty="0" smtClean="0"/>
              <a:t> functions (in particular terminating)</a:t>
            </a:r>
          </a:p>
          <a:p>
            <a:pPr>
              <a:lnSpc>
                <a:spcPct val="120000"/>
              </a:lnSpc>
            </a:pPr>
            <a:r>
              <a:rPr lang="en-US" sz="2400" b="1" dirty="0" smtClean="0"/>
              <a:t>Functional programming languages</a:t>
            </a:r>
            <a:r>
              <a:rPr lang="en-US" sz="2400" dirty="0" smtClean="0"/>
              <a:t> like OCaml, Haskell, ...</a:t>
            </a:r>
          </a:p>
          <a:p>
            <a:pPr lvl="1">
              <a:lnSpc>
                <a:spcPct val="120000"/>
              </a:lnSpc>
            </a:pPr>
            <a:r>
              <a:rPr lang="en-US" sz="2000" dirty="0" smtClean="0"/>
              <a:t>not completely pure, but still try </a:t>
            </a:r>
            <a:r>
              <a:rPr lang="en-US" sz="2000" dirty="0"/>
              <a:t>to reduce </a:t>
            </a:r>
            <a:r>
              <a:rPr lang="en-US" sz="2000" dirty="0" smtClean="0"/>
              <a:t>and </a:t>
            </a:r>
            <a:r>
              <a:rPr lang="en-US" sz="2000" dirty="0"/>
              <a:t>control side-effects </a:t>
            </a:r>
            <a:endParaRPr lang="en-US" sz="2000" dirty="0" smtClean="0"/>
          </a:p>
          <a:p>
            <a:pPr lvl="1">
              <a:lnSpc>
                <a:spcPct val="120000"/>
              </a:lnSpc>
            </a:pPr>
            <a:r>
              <a:rPr lang="en-US" sz="2000" dirty="0" smtClean="0"/>
              <a:t>they still make it as easy as possible to write functional code</a:t>
            </a:r>
          </a:p>
          <a:p>
            <a:pPr>
              <a:lnSpc>
                <a:spcPct val="120000"/>
              </a:lnSpc>
            </a:pPr>
            <a:r>
              <a:rPr lang="en-US" sz="2334" b="1" dirty="0" smtClean="0"/>
              <a:t>BSc course previous semester using OCaml</a:t>
            </a:r>
            <a:r>
              <a:rPr lang="en-US" sz="2000" b="1" dirty="0" smtClean="0"/>
              <a:t> </a:t>
            </a:r>
            <a:r>
              <a:rPr lang="en-US" sz="2000" dirty="0" smtClean="0"/>
              <a:t>(again next semester)</a:t>
            </a:r>
            <a:endParaRPr lang="en-US" sz="2334" dirty="0" smtClean="0"/>
          </a:p>
          <a:p>
            <a:pPr lvl="1">
              <a:lnSpc>
                <a:spcPct val="120000"/>
              </a:lnSpc>
            </a:pPr>
            <a:r>
              <a:rPr lang="en-US" sz="2000" dirty="0" smtClean="0"/>
              <a:t>Not a prerequisite for this course though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0"/>
            <a:ext cx="1679783" cy="16794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4991100"/>
            <a:ext cx="1219200" cy="33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02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Functional Programming in practice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663"/>
            <a:ext cx="8534400" cy="438229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400" b="1" u="sng" dirty="0" smtClean="0">
                <a:solidFill>
                  <a:schemeClr val="tx2"/>
                </a:solidFill>
              </a:rPr>
              <a:t>Functional </a:t>
            </a:r>
            <a:r>
              <a:rPr lang="en-US" sz="2400" b="1" u="sng" dirty="0">
                <a:solidFill>
                  <a:schemeClr val="tx2"/>
                </a:solidFill>
              </a:rPr>
              <a:t>languages</a:t>
            </a:r>
            <a:r>
              <a:rPr lang="en-US" sz="2400" b="1" dirty="0">
                <a:solidFill>
                  <a:schemeClr val="tx2"/>
                </a:solidFill>
              </a:rPr>
              <a:t> have some practical success</a:t>
            </a:r>
          </a:p>
          <a:p>
            <a:pPr lvl="1">
              <a:lnSpc>
                <a:spcPct val="110000"/>
              </a:lnSpc>
            </a:pPr>
            <a:r>
              <a:rPr lang="en-US" sz="1800" b="1" dirty="0" smtClean="0"/>
              <a:t>Meta</a:t>
            </a:r>
            <a:r>
              <a:rPr lang="en-US" sz="1800" dirty="0" smtClean="0"/>
              <a:t> </a:t>
            </a:r>
            <a:r>
              <a:rPr lang="en-US" sz="1800" dirty="0"/>
              <a:t>(</a:t>
            </a:r>
            <a:r>
              <a:rPr lang="en-US" sz="1800" dirty="0" smtClean="0"/>
              <a:t>OCaml, Haskell, Rust), </a:t>
            </a:r>
            <a:r>
              <a:rPr lang="en-US" sz="1800" b="1" dirty="0"/>
              <a:t>Microsoft</a:t>
            </a:r>
            <a:r>
              <a:rPr lang="en-US" sz="1800" dirty="0"/>
              <a:t> </a:t>
            </a:r>
            <a:r>
              <a:rPr lang="en-US" sz="1800" dirty="0" smtClean="0"/>
              <a:t>(OCaml, F#, F*, and Rust), </a:t>
            </a:r>
            <a:r>
              <a:rPr lang="en-US" sz="1800" b="1" dirty="0" smtClean="0"/>
              <a:t>X</a:t>
            </a:r>
            <a:r>
              <a:rPr lang="en-US" sz="1800" dirty="0" smtClean="0"/>
              <a:t> </a:t>
            </a:r>
            <a:r>
              <a:rPr lang="en-US" sz="1800" dirty="0"/>
              <a:t>(Scala</a:t>
            </a:r>
            <a:r>
              <a:rPr lang="en-US" sz="1800" dirty="0" smtClean="0"/>
              <a:t>),</a:t>
            </a:r>
            <a:br>
              <a:rPr lang="en-US" sz="1800" dirty="0" smtClean="0"/>
            </a:br>
            <a:r>
              <a:rPr lang="en-US" sz="1800" b="1" dirty="0" smtClean="0"/>
              <a:t>Mozilla</a:t>
            </a:r>
            <a:r>
              <a:rPr lang="en-US" sz="1800" dirty="0" smtClean="0"/>
              <a:t> (Rust), </a:t>
            </a:r>
            <a:r>
              <a:rPr lang="en-US" sz="1800" b="1" dirty="0" smtClean="0"/>
              <a:t>Google</a:t>
            </a:r>
            <a:r>
              <a:rPr lang="en-US" sz="1800" dirty="0" smtClean="0"/>
              <a:t> (Rust), </a:t>
            </a:r>
            <a:r>
              <a:rPr lang="en-US" sz="1800" b="1" dirty="0" smtClean="0"/>
              <a:t>Amazon</a:t>
            </a:r>
            <a:r>
              <a:rPr lang="en-US" sz="1800" dirty="0" smtClean="0"/>
              <a:t> (Rust), </a:t>
            </a:r>
            <a:r>
              <a:rPr lang="en-US" sz="1800" b="1" dirty="0" smtClean="0"/>
              <a:t>Financial industry</a:t>
            </a:r>
            <a:r>
              <a:rPr lang="en-US" sz="1800" dirty="0" smtClean="0"/>
              <a:t>,</a:t>
            </a:r>
            <a:br>
              <a:rPr lang="en-US" sz="1800" dirty="0" smtClean="0"/>
            </a:br>
            <a:r>
              <a:rPr lang="en-US" sz="1800" b="1" dirty="0"/>
              <a:t>Blockchains and </a:t>
            </a:r>
            <a:r>
              <a:rPr lang="en-US" sz="1800" b="1" dirty="0" smtClean="0"/>
              <a:t>smart contracts</a:t>
            </a:r>
            <a:r>
              <a:rPr lang="en-US" sz="1800" dirty="0" smtClean="0"/>
              <a:t> (Clara's group does research on this), ...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Not yet fully mainstream, but ...</a:t>
            </a:r>
          </a:p>
          <a:p>
            <a:pPr lvl="1">
              <a:lnSpc>
                <a:spcPct val="110000"/>
              </a:lnSpc>
            </a:pPr>
            <a:r>
              <a:rPr lang="en-US" sz="1800" b="1" dirty="0" smtClean="0"/>
              <a:t>Many cool ideas </a:t>
            </a:r>
            <a:r>
              <a:rPr lang="en-US" sz="1800" b="1" dirty="0"/>
              <a:t>already adopted by mainstream </a:t>
            </a:r>
            <a:r>
              <a:rPr lang="en-US" sz="1800" b="1" dirty="0" smtClean="0"/>
              <a:t>languages</a:t>
            </a:r>
            <a:r>
              <a:rPr lang="en-US" sz="1800" dirty="0" smtClean="0"/>
              <a:t>:</a:t>
            </a:r>
          </a:p>
          <a:p>
            <a:pPr lvl="2">
              <a:lnSpc>
                <a:spcPct val="110000"/>
              </a:lnSpc>
            </a:pPr>
            <a:r>
              <a:rPr lang="en-US" sz="1400" dirty="0" smtClean="0"/>
              <a:t>Lambdas</a:t>
            </a:r>
            <a:r>
              <a:rPr lang="en-US" sz="1400" dirty="0"/>
              <a:t>, </a:t>
            </a:r>
            <a:r>
              <a:rPr lang="en-US" sz="1400" dirty="0" smtClean="0"/>
              <a:t>Generics </a:t>
            </a:r>
            <a:r>
              <a:rPr lang="en-US" sz="1400" dirty="0"/>
              <a:t>in </a:t>
            </a:r>
            <a:r>
              <a:rPr lang="en-US" sz="1400" dirty="0" smtClean="0"/>
              <a:t>Java/C#, Rust's </a:t>
            </a:r>
            <a:r>
              <a:rPr lang="en-US" sz="1400" dirty="0"/>
              <a:t>type </a:t>
            </a:r>
            <a:r>
              <a:rPr lang="en-US" sz="1400" dirty="0" smtClean="0"/>
              <a:t>system, datatypes, pattern matching</a:t>
            </a:r>
            <a:br>
              <a:rPr lang="en-US" sz="1400" dirty="0" smtClean="0"/>
            </a:br>
            <a:r>
              <a:rPr lang="en-US" sz="1400" dirty="0" smtClean="0"/>
              <a:t>                                                      (</a:t>
            </a:r>
            <a:r>
              <a:rPr lang="en-US" sz="1400" u="sng" dirty="0" smtClean="0"/>
              <a:t>most admired language</a:t>
            </a:r>
            <a:r>
              <a:rPr lang="en-US" sz="1400" dirty="0" smtClean="0"/>
              <a:t> on Stack Overflow for the last 11 years!)</a:t>
            </a:r>
          </a:p>
          <a:p>
            <a:pPr lvl="1">
              <a:lnSpc>
                <a:spcPct val="110000"/>
              </a:lnSpc>
            </a:pPr>
            <a:r>
              <a:rPr lang="en-US" sz="1800" b="1" dirty="0"/>
              <a:t>Functional </a:t>
            </a:r>
            <a:r>
              <a:rPr lang="en-US" sz="1800" b="1" dirty="0" smtClean="0"/>
              <a:t>programmers often </a:t>
            </a:r>
            <a:r>
              <a:rPr lang="en-US" sz="1800" b="1" u="sng" dirty="0"/>
              <a:t>earn more</a:t>
            </a:r>
            <a:r>
              <a:rPr lang="en-US" sz="1800" dirty="0"/>
              <a:t> </a:t>
            </a:r>
            <a:r>
              <a:rPr lang="en-US" sz="1800" dirty="0" smtClean="0"/>
              <a:t>(Stack Overflow developer survey</a:t>
            </a:r>
            <a:r>
              <a:rPr lang="en-US" sz="1800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sz="1800" b="1" dirty="0" smtClean="0"/>
              <a:t>Functional programs are </a:t>
            </a:r>
            <a:r>
              <a:rPr lang="en-US" sz="1800" b="1" u="sng" dirty="0" smtClean="0"/>
              <a:t>concise, elegant, beautiful</a:t>
            </a:r>
            <a:endParaRPr lang="en-US" sz="1800" b="1" u="sng" dirty="0"/>
          </a:p>
          <a:p>
            <a:pPr lvl="2">
              <a:lnSpc>
                <a:spcPct val="110000"/>
              </a:lnSpc>
            </a:pPr>
            <a:r>
              <a:rPr lang="en-US" sz="1400" dirty="0" smtClean="0"/>
              <a:t>This makes understanding and reasoning about programs much easier, both informally and </a:t>
            </a:r>
            <a:r>
              <a:rPr lang="en-US" sz="1400" u="sng" dirty="0" smtClean="0"/>
              <a:t>formally</a:t>
            </a:r>
          </a:p>
          <a:p>
            <a:pPr>
              <a:lnSpc>
                <a:spcPct val="110000"/>
              </a:lnSpc>
            </a:pPr>
            <a:r>
              <a:rPr lang="en-US" sz="2134" b="1" dirty="0" smtClean="0"/>
              <a:t>For this course this last point is very important</a:t>
            </a:r>
          </a:p>
          <a:p>
            <a:pPr lvl="1">
              <a:lnSpc>
                <a:spcPct val="110000"/>
              </a:lnSpc>
            </a:pPr>
            <a:r>
              <a:rPr lang="en-US" sz="1600" dirty="0" smtClean="0"/>
              <a:t>formal verification by proving theorems about purely functional programs in Rocq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304005"/>
            <a:ext cx="1232347" cy="12321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2710248"/>
            <a:ext cx="1295400" cy="68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proof that append is associative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152167"/>
            <a:ext cx="6553200" cy="18014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438275"/>
            <a:ext cx="5924550" cy="1343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1" y="571500"/>
            <a:ext cx="1543050" cy="28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3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0117" b="2012"/>
          <a:stretch/>
        </p:blipFill>
        <p:spPr>
          <a:xfrm>
            <a:off x="-1" y="0"/>
            <a:ext cx="9144000" cy="63093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66700"/>
            <a:ext cx="1543050" cy="28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2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660"/>
            <a:ext cx="8229600" cy="3771636"/>
          </a:xfrm>
        </p:spPr>
        <p:txBody>
          <a:bodyPr/>
          <a:lstStyle/>
          <a:p>
            <a:r>
              <a:rPr lang="en-US" b="1" dirty="0" smtClean="0"/>
              <a:t>Define inductive datatypes</a:t>
            </a:r>
          </a:p>
          <a:p>
            <a:pPr lvl="1"/>
            <a:r>
              <a:rPr lang="en-US" dirty="0" smtClean="0"/>
              <a:t>bools, numbers, lists, trees, abstract syntax trees</a:t>
            </a:r>
          </a:p>
          <a:p>
            <a:r>
              <a:rPr lang="en-US" b="1" dirty="0" smtClean="0"/>
              <a:t>Define </a:t>
            </a:r>
            <a:r>
              <a:rPr lang="en-US" b="1" u="sng" dirty="0"/>
              <a:t>p</a:t>
            </a:r>
            <a:r>
              <a:rPr lang="en-US" b="1" u="sng" dirty="0" smtClean="0"/>
              <a:t>ure functions</a:t>
            </a:r>
            <a:r>
              <a:rPr lang="en-US" b="1" dirty="0" smtClean="0"/>
              <a:t> on these datatypes</a:t>
            </a:r>
          </a:p>
          <a:p>
            <a:pPr lvl="1"/>
            <a:r>
              <a:rPr lang="en-US" dirty="0" smtClean="0"/>
              <a:t>pattern matching &amp; structural recursion (terminating)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Prove properties of these functions </a:t>
            </a:r>
            <a:r>
              <a:rPr lang="en-US" b="1" u="sng" dirty="0" smtClean="0"/>
              <a:t>by induction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970460"/>
            <a:ext cx="5924550" cy="13430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875460"/>
            <a:ext cx="6553200" cy="18014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70" t="17193" r="27595" b="20475"/>
          <a:stretch/>
        </p:blipFill>
        <p:spPr>
          <a:xfrm>
            <a:off x="7688279" y="141660"/>
            <a:ext cx="1013760" cy="88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4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48" b="32127"/>
          <a:stretch/>
        </p:blipFill>
        <p:spPr>
          <a:xfrm>
            <a:off x="4648200" y="2552700"/>
            <a:ext cx="3431174" cy="6400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Formalizing </a:t>
            </a:r>
            <a:r>
              <a:rPr lang="en-US" sz="3600" b="1" dirty="0"/>
              <a:t>simple imperative language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952500"/>
            <a:ext cx="8229600" cy="3886200"/>
          </a:xfrm>
        </p:spPr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</a:rPr>
              <a:t>Abstract syntax tree</a:t>
            </a:r>
            <a:br>
              <a:rPr lang="en-US" b="1" dirty="0" smtClean="0">
                <a:solidFill>
                  <a:schemeClr val="tx2"/>
                </a:solidFill>
              </a:rPr>
            </a:br>
            <a:r>
              <a:rPr lang="en-US" b="1" dirty="0" smtClean="0">
                <a:solidFill>
                  <a:schemeClr val="tx2"/>
                </a:solidFill>
              </a:rPr>
              <a:t>(inductive datatype)</a:t>
            </a:r>
          </a:p>
          <a:p>
            <a:endParaRPr lang="en-US" sz="1800" b="1" dirty="0" smtClean="0">
              <a:solidFill>
                <a:schemeClr val="tx2"/>
              </a:solidFill>
            </a:endParaRPr>
          </a:p>
          <a:p>
            <a:r>
              <a:rPr lang="en-US" b="1" dirty="0" smtClean="0">
                <a:solidFill>
                  <a:schemeClr val="tx2"/>
                </a:solidFill>
              </a:rPr>
              <a:t>Operational semantics (inductive relation)</a:t>
            </a:r>
          </a:p>
          <a:p>
            <a:endParaRPr lang="en-US" sz="3200" dirty="0" smtClean="0"/>
          </a:p>
          <a:p>
            <a:r>
              <a:rPr lang="en-US" b="1" dirty="0" smtClean="0">
                <a:solidFill>
                  <a:schemeClr val="tx2"/>
                </a:solidFill>
              </a:rPr>
              <a:t>Proving properties of some/all programs</a:t>
            </a:r>
          </a:p>
          <a:p>
            <a:pPr lvl="1"/>
            <a:r>
              <a:rPr lang="en-US" b="1" dirty="0" smtClean="0"/>
              <a:t>e.g. in our simple language evaluation is deterministic:</a:t>
            </a:r>
          </a:p>
          <a:p>
            <a:pPr lvl="1"/>
            <a:endParaRPr lang="en-US" b="1" dirty="0"/>
          </a:p>
          <a:p>
            <a:pPr lvl="1"/>
            <a:endParaRPr lang="en-US" b="1" dirty="0" smtClean="0"/>
          </a:p>
          <a:p>
            <a:pPr lvl="1"/>
            <a:r>
              <a:rPr lang="en-US" b="1" dirty="0"/>
              <a:t>by induction </a:t>
            </a:r>
            <a:r>
              <a:rPr lang="en-US" dirty="0"/>
              <a:t>(often on </a:t>
            </a:r>
            <a:r>
              <a:rPr lang="en-US" dirty="0" smtClean="0"/>
              <a:t>derivation trees of inductive relation)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138" y="4152900"/>
            <a:ext cx="4620862" cy="882711"/>
          </a:xfrm>
          <a:prstGeom prst="rect">
            <a:avLst/>
          </a:prstGeom>
        </p:spPr>
      </p:pic>
      <p:pic>
        <p:nvPicPr>
          <p:cNvPr id="9" name="Content Placeholder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81" b="47494"/>
          <a:stretch/>
        </p:blipFill>
        <p:spPr>
          <a:xfrm>
            <a:off x="1064626" y="2591404"/>
            <a:ext cx="3431174" cy="6400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123678"/>
            <a:ext cx="2463299" cy="97182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" r="-838"/>
          <a:stretch/>
        </p:blipFill>
        <p:spPr>
          <a:xfrm>
            <a:off x="6656832" y="1771412"/>
            <a:ext cx="2514600" cy="26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08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3200400" cy="9525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/>
              <a:t>Inductive relation</a:t>
            </a:r>
            <a:endParaRPr lang="en-US" sz="3200" b="1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26" y="1111363"/>
            <a:ext cx="3431174" cy="4260737"/>
          </a:xfrm>
        </p:spPr>
      </p:pic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799" y="876300"/>
            <a:ext cx="3696917" cy="476597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174" y="342901"/>
            <a:ext cx="1674426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76799" y="177225"/>
            <a:ext cx="25621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  <a:ea typeface="+mj-ea"/>
                <a:cs typeface="+mj-cs"/>
              </a:rPr>
              <a:t>Formalized in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44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457200" y="1028700"/>
            <a:ext cx="4079014" cy="441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CompCert C compiler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1800" dirty="0"/>
              <a:t>verified in </a:t>
            </a:r>
            <a:r>
              <a:rPr lang="en-US" sz="1800" dirty="0" smtClean="0"/>
              <a:t>Rocq </a:t>
            </a:r>
            <a:r>
              <a:rPr lang="en-US" sz="1800" dirty="0"/>
              <a:t>to compile </a:t>
            </a:r>
            <a:r>
              <a:rPr lang="en-US" sz="1800" u="sng" dirty="0" smtClean="0"/>
              <a:t>correctly</a:t>
            </a:r>
            <a:endParaRPr lang="en-US" sz="2000" dirty="0" smtClean="0"/>
          </a:p>
          <a:p>
            <a:pPr marL="0" indent="-182880"/>
            <a:r>
              <a:rPr lang="en-US" sz="1600" dirty="0" smtClean="0"/>
              <a:t>each </a:t>
            </a:r>
            <a:r>
              <a:rPr lang="en-US" sz="1600" dirty="0"/>
              <a:t>language given a </a:t>
            </a:r>
            <a:r>
              <a:rPr lang="en-US" sz="1600" dirty="0" smtClean="0"/>
              <a:t>semantics</a:t>
            </a:r>
          </a:p>
          <a:p>
            <a:pPr marL="0" indent="-182880"/>
            <a:r>
              <a:rPr lang="en-US" sz="1600" dirty="0" smtClean="0"/>
              <a:t>transformations </a:t>
            </a:r>
            <a:r>
              <a:rPr lang="en-US" sz="1600" dirty="0"/>
              <a:t>and </a:t>
            </a:r>
            <a:r>
              <a:rPr lang="en-US" sz="1600" dirty="0" smtClean="0"/>
              <a:t>optimizations</a:t>
            </a:r>
          </a:p>
          <a:p>
            <a:pPr marL="457200" lvl="1"/>
            <a:r>
              <a:rPr lang="en-US" sz="1400" dirty="0" smtClean="0"/>
              <a:t>implemented </a:t>
            </a:r>
            <a:r>
              <a:rPr lang="en-US" sz="1400" dirty="0"/>
              <a:t>as pure </a:t>
            </a:r>
            <a:r>
              <a:rPr lang="en-US" sz="1400" dirty="0" smtClean="0"/>
              <a:t>functions</a:t>
            </a:r>
          </a:p>
          <a:p>
            <a:pPr marL="457200" lvl="1"/>
            <a:r>
              <a:rPr lang="en-US" sz="1400" dirty="0" smtClean="0"/>
              <a:t>proved </a:t>
            </a:r>
            <a:r>
              <a:rPr lang="en-US" sz="1400" dirty="0"/>
              <a:t>to preserve </a:t>
            </a:r>
            <a:r>
              <a:rPr lang="en-US" sz="1400" dirty="0" smtClean="0"/>
              <a:t>semantics</a:t>
            </a:r>
          </a:p>
          <a:p>
            <a:pPr marL="0" lvl="0" indent="-182880"/>
            <a:r>
              <a:rPr lang="en-US" sz="1600" dirty="0" smtClean="0">
                <a:solidFill>
                  <a:prstClr val="black"/>
                </a:solidFill>
              </a:rPr>
              <a:t>used in safety-critical systems</a:t>
            </a:r>
            <a:endParaRPr lang="en-US" sz="1800" dirty="0" smtClean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1600" dirty="0" smtClean="0"/>
              <a:t>C</a:t>
            </a:r>
            <a:r>
              <a:rPr lang="ro-RO" sz="1600" dirty="0" smtClean="0"/>
              <a:t>ătălin</a:t>
            </a:r>
            <a:r>
              <a:rPr lang="en-US" sz="1600" dirty="0" smtClean="0"/>
              <a:t>, </a:t>
            </a:r>
            <a:r>
              <a:rPr lang="en-US" sz="1600" dirty="0" err="1" smtClean="0"/>
              <a:t>Yonghyun</a:t>
            </a:r>
            <a:r>
              <a:rPr lang="en-US" sz="1600" dirty="0" smtClean="0"/>
              <a:t>, Yan, </a:t>
            </a:r>
            <a:r>
              <a:rPr lang="en-US" sz="1600" dirty="0"/>
              <a:t>et al </a:t>
            </a:r>
            <a:r>
              <a:rPr lang="en-US" sz="1600" dirty="0" smtClean="0"/>
              <a:t>building</a:t>
            </a:r>
            <a:br>
              <a:rPr lang="en-US" sz="1600" dirty="0" smtClean="0"/>
            </a:br>
            <a:r>
              <a:rPr lang="en-US" sz="1600" u="sng" dirty="0" smtClean="0"/>
              <a:t>secure</a:t>
            </a:r>
            <a:r>
              <a:rPr lang="en-US" sz="1600" dirty="0" smtClean="0"/>
              <a:t> compilers and verifying </a:t>
            </a:r>
            <a:r>
              <a:rPr lang="en-US" sz="1600" dirty="0"/>
              <a:t>them in </a:t>
            </a:r>
            <a:r>
              <a:rPr lang="en-US" sz="1600" dirty="0" smtClean="0"/>
              <a:t>Rocq</a:t>
            </a:r>
            <a:endParaRPr lang="en-US" sz="1600" dirty="0"/>
          </a:p>
          <a:p>
            <a:pPr marL="457200" lvl="1"/>
            <a:r>
              <a:rPr lang="en-US" sz="1400" dirty="0" smtClean="0"/>
              <a:t>including </a:t>
            </a:r>
            <a:r>
              <a:rPr lang="en-US" sz="1400" dirty="0"/>
              <a:t>a secure variant of </a:t>
            </a:r>
            <a:r>
              <a:rPr lang="en-US" sz="1400" dirty="0" smtClean="0"/>
              <a:t>CompCert</a:t>
            </a:r>
          </a:p>
          <a:p>
            <a:pPr marL="457200" lvl="1"/>
            <a:r>
              <a:rPr lang="en-US" sz="1400" dirty="0" smtClean="0"/>
              <a:t>side-channel defenses (more later)</a:t>
            </a:r>
            <a:endParaRPr lang="en-US" sz="1400" dirty="0"/>
          </a:p>
          <a:p>
            <a:pPr marL="0" indent="-114276">
              <a:buNone/>
            </a:pPr>
            <a:endParaRPr lang="en-US" sz="700" dirty="0" smtClean="0"/>
          </a:p>
          <a:p>
            <a:pPr marL="0" lvl="0" indent="0">
              <a:buNone/>
            </a:pPr>
            <a:r>
              <a:rPr lang="en-US" sz="1600" dirty="0" smtClean="0">
                <a:solidFill>
                  <a:prstClr val="black"/>
                </a:solidFill>
              </a:rPr>
              <a:t>Clara </a:t>
            </a:r>
            <a:r>
              <a:rPr lang="en-US" sz="1600" dirty="0">
                <a:solidFill>
                  <a:prstClr val="black"/>
                </a:solidFill>
              </a:rPr>
              <a:t>et al </a:t>
            </a:r>
            <a:r>
              <a:rPr lang="en-US" sz="1600" dirty="0" smtClean="0">
                <a:solidFill>
                  <a:prstClr val="black"/>
                </a:solidFill>
              </a:rPr>
              <a:t>built </a:t>
            </a:r>
            <a:r>
              <a:rPr lang="en-US" sz="1600" u="sng" dirty="0">
                <a:solidFill>
                  <a:prstClr val="black"/>
                </a:solidFill>
              </a:rPr>
              <a:t>secure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smtClean="0">
                <a:solidFill>
                  <a:prstClr val="black"/>
                </a:solidFill>
              </a:rPr>
              <a:t>compiler</a:t>
            </a:r>
            <a:br>
              <a:rPr lang="en-US" sz="1600" dirty="0" smtClean="0">
                <a:solidFill>
                  <a:prstClr val="black"/>
                </a:solidFill>
              </a:rPr>
            </a:br>
            <a:r>
              <a:rPr lang="en-US" sz="1600" dirty="0" smtClean="0">
                <a:solidFill>
                  <a:prstClr val="black"/>
                </a:solidFill>
              </a:rPr>
              <a:t>from </a:t>
            </a:r>
            <a:r>
              <a:rPr lang="en-US" sz="1600" dirty="0" err="1" smtClean="0">
                <a:solidFill>
                  <a:prstClr val="black"/>
                </a:solidFill>
              </a:rPr>
              <a:t>BitMLx</a:t>
            </a:r>
            <a:r>
              <a:rPr lang="en-US" sz="1600" dirty="0" smtClean="0">
                <a:solidFill>
                  <a:prstClr val="black"/>
                </a:solidFill>
              </a:rPr>
              <a:t> smart contracts</a:t>
            </a:r>
            <a:br>
              <a:rPr lang="en-US" sz="1600" dirty="0" smtClean="0">
                <a:solidFill>
                  <a:prstClr val="black"/>
                </a:solidFill>
              </a:rPr>
            </a:br>
            <a:r>
              <a:rPr lang="en-US" sz="1600" dirty="0" smtClean="0">
                <a:solidFill>
                  <a:prstClr val="black"/>
                </a:solidFill>
              </a:rPr>
              <a:t>to cross-chain contracts and protocols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18"/>
          <a:stretch/>
        </p:blipFill>
        <p:spPr>
          <a:xfrm>
            <a:off x="4764814" y="1208491"/>
            <a:ext cx="4150586" cy="4239809"/>
          </a:xfrm>
          <a:prstGeom prst="rect">
            <a:avLst/>
          </a:prstGeom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0" y="38100"/>
            <a:ext cx="91440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61970" rtl="0" eaLnBrk="1" latinLnBrk="0" hangingPunct="1">
              <a:spcBef>
                <a:spcPct val="0"/>
              </a:spcBef>
              <a:buNone/>
              <a:defRPr sz="36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/>
              <a:t>Why formalize programming </a:t>
            </a:r>
            <a:r>
              <a:rPr lang="en-US" sz="4000" b="1" dirty="0"/>
              <a:t>l</a:t>
            </a:r>
            <a:r>
              <a:rPr lang="en-US" sz="4000" b="1" dirty="0" smtClean="0"/>
              <a:t>anguages?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00835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/>
          <a:lstStyle/>
          <a:p>
            <a:r>
              <a:rPr lang="en-US" b="1" dirty="0" smtClean="0"/>
              <a:t>Secure information flow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2500"/>
            <a:ext cx="8382000" cy="3771636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 smtClean="0">
                <a:solidFill>
                  <a:srgbClr val="C00000"/>
                </a:solidFill>
              </a:rPr>
              <a:t>What does it mean that a program doesn't leak secrets?</a:t>
            </a:r>
          </a:p>
          <a:p>
            <a:pPr>
              <a:lnSpc>
                <a:spcPct val="110000"/>
              </a:lnSpc>
            </a:pPr>
            <a:r>
              <a:rPr lang="en-US" sz="2000" b="1" dirty="0" smtClean="0">
                <a:solidFill>
                  <a:srgbClr val="C00000"/>
                </a:solidFill>
              </a:rPr>
              <a:t>Noninterference</a:t>
            </a:r>
            <a:r>
              <a:rPr lang="en-US" sz="2000" dirty="0" smtClean="0"/>
              <a:t> (for simple imperative programs):</a:t>
            </a:r>
            <a:endParaRPr lang="en-US" sz="2000" dirty="0"/>
          </a:p>
          <a:p>
            <a:pPr lvl="1">
              <a:lnSpc>
                <a:spcPct val="110000"/>
              </a:lnSpc>
            </a:pPr>
            <a:r>
              <a:rPr lang="en-US" sz="1800" dirty="0" smtClean="0"/>
              <a:t>secrets don't flow from secret variables to public variables</a:t>
            </a:r>
          </a:p>
          <a:p>
            <a:pPr lvl="1">
              <a:lnSpc>
                <a:spcPct val="110000"/>
              </a:lnSpc>
            </a:pPr>
            <a:r>
              <a:rPr lang="en-US" sz="1800" u="sng" dirty="0" smtClean="0"/>
              <a:t>Formally</a:t>
            </a:r>
            <a:r>
              <a:rPr lang="en-US" sz="1800" dirty="0" smtClean="0"/>
              <a:t>: executing the program </a:t>
            </a:r>
            <a:r>
              <a:rPr lang="en-US" sz="1800" u="sng" dirty="0" smtClean="0"/>
              <a:t>twice</a:t>
            </a:r>
            <a:r>
              <a:rPr lang="en-US" sz="1800" dirty="0" smtClean="0"/>
              <a:t> with different initial values for the secret variables produces two final states whose public variables are still equal</a:t>
            </a:r>
          </a:p>
          <a:p>
            <a:pPr>
              <a:lnSpc>
                <a:spcPct val="110000"/>
              </a:lnSpc>
            </a:pPr>
            <a:r>
              <a:rPr lang="en-US" sz="2000" b="1" dirty="0" smtClean="0">
                <a:solidFill>
                  <a:schemeClr val="tx2"/>
                </a:solidFill>
              </a:rPr>
              <a:t>Can be enforced </a:t>
            </a:r>
            <a:r>
              <a:rPr lang="en-US" sz="2000" b="1" u="sng" dirty="0" smtClean="0">
                <a:solidFill>
                  <a:schemeClr val="tx2"/>
                </a:solidFill>
              </a:rPr>
              <a:t>statically</a:t>
            </a:r>
            <a:r>
              <a:rPr lang="en-US" sz="2000" b="1" dirty="0" smtClean="0">
                <a:solidFill>
                  <a:schemeClr val="tx2"/>
                </a:solidFill>
              </a:rPr>
              <a:t> by </a:t>
            </a:r>
            <a:r>
              <a:rPr lang="en-US" sz="2000" b="1" u="sng" dirty="0" smtClean="0">
                <a:solidFill>
                  <a:schemeClr val="tx2"/>
                </a:solidFill>
              </a:rPr>
              <a:t>simple type system</a:t>
            </a:r>
            <a:endParaRPr lang="en-US" sz="2000" dirty="0" smtClean="0"/>
          </a:p>
          <a:p>
            <a:pPr lvl="1">
              <a:lnSpc>
                <a:spcPct val="110000"/>
              </a:lnSpc>
            </a:pPr>
            <a:r>
              <a:rPr lang="en-US" sz="1800" dirty="0"/>
              <a:t>Prevent explicit </a:t>
            </a:r>
            <a:r>
              <a:rPr lang="en-US" sz="1800" dirty="0" smtClean="0"/>
              <a:t>flows: </a:t>
            </a:r>
            <a:r>
              <a:rPr lang="en-US" sz="1600" dirty="0"/>
              <a:t>public := 2*secret + 1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Prevent implicit flows, via the control </a:t>
            </a:r>
            <a:r>
              <a:rPr lang="en-US" sz="1800" dirty="0" smtClean="0"/>
              <a:t>flow: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600" b="1" dirty="0"/>
              <a:t>if</a:t>
            </a:r>
            <a:r>
              <a:rPr lang="en-US" sz="1600" dirty="0"/>
              <a:t> secret=0 </a:t>
            </a:r>
            <a:r>
              <a:rPr lang="en-US" sz="1600" b="1" dirty="0"/>
              <a:t>then</a:t>
            </a:r>
            <a:r>
              <a:rPr lang="en-US" sz="1600" dirty="0"/>
              <a:t> public := 0 </a:t>
            </a:r>
            <a:r>
              <a:rPr lang="en-US" sz="1600" b="1" dirty="0"/>
              <a:t>else</a:t>
            </a:r>
            <a:r>
              <a:rPr lang="en-US" sz="1600" dirty="0"/>
              <a:t> public := 1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2000" b="1" dirty="0" smtClean="0">
                <a:solidFill>
                  <a:schemeClr val="tx2"/>
                </a:solidFill>
              </a:rPr>
              <a:t>Can also be enforced </a:t>
            </a:r>
            <a:r>
              <a:rPr lang="en-US" sz="2000" b="1" u="sng" dirty="0" smtClean="0">
                <a:solidFill>
                  <a:schemeClr val="tx2"/>
                </a:solidFill>
              </a:rPr>
              <a:t>dynamically</a:t>
            </a:r>
          </a:p>
          <a:p>
            <a:pPr lvl="1">
              <a:lnSpc>
                <a:spcPct val="110000"/>
              </a:lnSpc>
            </a:pPr>
            <a:r>
              <a:rPr lang="en-US" sz="1800" dirty="0" smtClean="0"/>
              <a:t>e.g. Secure Multi-Execution</a:t>
            </a:r>
          </a:p>
          <a:p>
            <a:pPr lvl="1">
              <a:lnSpc>
                <a:spcPct val="110000"/>
              </a:lnSpc>
            </a:pPr>
            <a:r>
              <a:rPr lang="en-US" sz="1800" dirty="0" smtClean="0"/>
              <a:t>secure and precise,</a:t>
            </a:r>
            <a:br>
              <a:rPr lang="en-US" sz="1800" dirty="0" smtClean="0"/>
            </a:br>
            <a:r>
              <a:rPr lang="en-US" sz="1800" dirty="0" smtClean="0"/>
              <a:t>but less efficient and less correct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7162800" y="226316"/>
            <a:ext cx="1995246" cy="1909568"/>
            <a:chOff x="7162800" y="222020"/>
            <a:chExt cx="1995246" cy="1909568"/>
          </a:xfrm>
        </p:grpSpPr>
        <p:sp>
          <p:nvSpPr>
            <p:cNvPr id="5" name="TextBox 4"/>
            <p:cNvSpPr txBox="1"/>
            <p:nvPr/>
          </p:nvSpPr>
          <p:spPr>
            <a:xfrm>
              <a:off x="7162800" y="457200"/>
              <a:ext cx="627095" cy="437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dirty="0" smtClean="0"/>
                <a:t>public</a:t>
              </a:r>
              <a:br>
                <a:rPr lang="en-US" sz="1400" dirty="0" smtClean="0"/>
              </a:br>
              <a:r>
                <a:rPr lang="en-US" sz="1400" dirty="0" smtClean="0"/>
                <a:t>vars</a:t>
              </a:r>
              <a:endParaRPr lang="en-US" sz="14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92610" y="457199"/>
              <a:ext cx="630173" cy="441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dirty="0" smtClean="0"/>
                <a:t>secret</a:t>
              </a:r>
              <a:br>
                <a:rPr lang="en-US" sz="1400" dirty="0" smtClean="0"/>
              </a:br>
              <a:r>
                <a:rPr lang="en-US" sz="1400" dirty="0" smtClean="0"/>
                <a:t>vars</a:t>
              </a:r>
              <a:endParaRPr 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74591" y="1501762"/>
              <a:ext cx="627095" cy="437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dirty="0" smtClean="0"/>
                <a:t>public</a:t>
              </a:r>
              <a:br>
                <a:rPr lang="en-US" sz="1400" dirty="0" smtClean="0"/>
              </a:br>
              <a:r>
                <a:rPr lang="en-US" sz="1400" dirty="0" smtClean="0"/>
                <a:t>vars</a:t>
              </a:r>
              <a:endParaRPr lang="en-US" sz="14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104401" y="1501761"/>
              <a:ext cx="630173" cy="441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dirty="0" smtClean="0"/>
                <a:t>secret</a:t>
              </a:r>
              <a:br>
                <a:rPr lang="en-US" sz="1400" dirty="0" smtClean="0"/>
              </a:br>
              <a:r>
                <a:rPr lang="en-US" sz="1400" dirty="0" smtClean="0"/>
                <a:t>vars</a:t>
              </a:r>
              <a:endParaRPr lang="en-US" sz="1400" dirty="0"/>
            </a:p>
          </p:txBody>
        </p:sp>
        <p:cxnSp>
          <p:nvCxnSpPr>
            <p:cNvPr id="14" name="Straight Arrow Connector 13"/>
            <p:cNvCxnSpPr>
              <a:stCxn id="5" idx="2"/>
              <a:endCxn id="12" idx="0"/>
            </p:cNvCxnSpPr>
            <p:nvPr/>
          </p:nvCxnSpPr>
          <p:spPr>
            <a:xfrm>
              <a:off x="7476348" y="894243"/>
              <a:ext cx="11791" cy="607519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1" idx="2"/>
              <a:endCxn id="13" idx="0"/>
            </p:cNvCxnSpPr>
            <p:nvPr/>
          </p:nvCxnSpPr>
          <p:spPr>
            <a:xfrm>
              <a:off x="8407697" y="898538"/>
              <a:ext cx="11791" cy="603223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7631791" y="848213"/>
              <a:ext cx="609600" cy="67578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451642" y="222020"/>
              <a:ext cx="1018677" cy="268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b="1" dirty="0" smtClean="0"/>
                <a:t>initial state</a:t>
              </a:r>
              <a:endParaRPr lang="en-US" sz="1400" b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503572" y="1862604"/>
              <a:ext cx="922497" cy="268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b="1" dirty="0" smtClean="0"/>
                <a:t>final state</a:t>
              </a:r>
              <a:endParaRPr lang="en-US" sz="1400" b="1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382000" y="948204"/>
              <a:ext cx="776046" cy="441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b="1" dirty="0" smtClean="0">
                  <a:solidFill>
                    <a:schemeClr val="accent1"/>
                  </a:solidFill>
                </a:rPr>
                <a:t>allowed</a:t>
              </a:r>
              <a:br>
                <a:rPr lang="en-US" sz="1400" b="1" dirty="0" smtClean="0">
                  <a:solidFill>
                    <a:schemeClr val="accent1"/>
                  </a:solidFill>
                </a:rPr>
              </a:br>
              <a:r>
                <a:rPr lang="en-US" sz="1400" b="1" dirty="0" smtClean="0">
                  <a:solidFill>
                    <a:schemeClr val="accent1"/>
                  </a:solidFill>
                </a:rPr>
                <a:t>flows</a:t>
              </a:r>
              <a:endParaRPr lang="en-US" sz="14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876800" y="4076700"/>
            <a:ext cx="3424823" cy="1519390"/>
            <a:chOff x="5309751" y="423710"/>
            <a:chExt cx="3424823" cy="1519390"/>
          </a:xfrm>
        </p:grpSpPr>
        <p:sp>
          <p:nvSpPr>
            <p:cNvPr id="17" name="TextBox 16"/>
            <p:cNvSpPr txBox="1"/>
            <p:nvPr/>
          </p:nvSpPr>
          <p:spPr>
            <a:xfrm>
              <a:off x="7162800" y="457200"/>
              <a:ext cx="627095" cy="437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dirty="0" smtClean="0"/>
                <a:t>public</a:t>
              </a:r>
              <a:br>
                <a:rPr lang="en-US" sz="1400" dirty="0" smtClean="0"/>
              </a:br>
              <a:r>
                <a:rPr lang="en-US" sz="1400" dirty="0" smtClean="0"/>
                <a:t>vars</a:t>
              </a:r>
              <a:endParaRPr lang="en-US" sz="14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092610" y="457199"/>
              <a:ext cx="630173" cy="441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dirty="0" smtClean="0"/>
                <a:t>secret</a:t>
              </a:r>
              <a:br>
                <a:rPr lang="en-US" sz="1400" dirty="0" smtClean="0"/>
              </a:br>
              <a:r>
                <a:rPr lang="en-US" sz="1400" dirty="0" smtClean="0"/>
                <a:t>vars</a:t>
              </a:r>
              <a:endParaRPr lang="en-US" sz="14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174591" y="1501762"/>
              <a:ext cx="627095" cy="437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dirty="0" smtClean="0"/>
                <a:t>public</a:t>
              </a:r>
              <a:br>
                <a:rPr lang="en-US" sz="1400" dirty="0" smtClean="0"/>
              </a:br>
              <a:r>
                <a:rPr lang="en-US" sz="1400" dirty="0" smtClean="0"/>
                <a:t>vars</a:t>
              </a:r>
              <a:endParaRPr lang="en-US" sz="14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104401" y="1501761"/>
              <a:ext cx="630173" cy="441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dirty="0" smtClean="0"/>
                <a:t>secret</a:t>
              </a:r>
              <a:br>
                <a:rPr lang="en-US" sz="1400" dirty="0" smtClean="0"/>
              </a:br>
              <a:r>
                <a:rPr lang="en-US" sz="1400" dirty="0" smtClean="0"/>
                <a:t>vars</a:t>
              </a:r>
              <a:endParaRPr lang="en-US" sz="1400" dirty="0"/>
            </a:p>
          </p:txBody>
        </p:sp>
        <p:cxnSp>
          <p:nvCxnSpPr>
            <p:cNvPr id="22" name="Straight Arrow Connector 21"/>
            <p:cNvCxnSpPr>
              <a:stCxn id="17" idx="2"/>
              <a:endCxn id="20" idx="0"/>
            </p:cNvCxnSpPr>
            <p:nvPr/>
          </p:nvCxnSpPr>
          <p:spPr>
            <a:xfrm>
              <a:off x="7476348" y="894243"/>
              <a:ext cx="11791" cy="607519"/>
            </a:xfrm>
            <a:prstGeom prst="straightConnector1">
              <a:avLst/>
            </a:prstGeom>
            <a:ln w="2540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9" idx="2"/>
              <a:endCxn id="21" idx="0"/>
            </p:cNvCxnSpPr>
            <p:nvPr/>
          </p:nvCxnSpPr>
          <p:spPr>
            <a:xfrm>
              <a:off x="8407697" y="898538"/>
              <a:ext cx="11791" cy="603223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7591574" y="848213"/>
              <a:ext cx="609600" cy="67578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5309751" y="531388"/>
              <a:ext cx="1018677" cy="268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b="1" dirty="0" smtClean="0"/>
                <a:t>initial state</a:t>
              </a:r>
              <a:endParaRPr lang="en-US" sz="1400" b="1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099828" y="1598188"/>
              <a:ext cx="922497" cy="268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b="1" dirty="0" smtClean="0"/>
                <a:t>final state</a:t>
              </a:r>
              <a:endParaRPr lang="en-US" sz="1400" b="1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252228" y="423710"/>
              <a:ext cx="737573" cy="6093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dirty="0" smtClean="0"/>
                <a:t>dummy</a:t>
              </a:r>
            </a:p>
            <a:p>
              <a:pPr algn="ctr">
                <a:lnSpc>
                  <a:spcPct val="80000"/>
                </a:lnSpc>
              </a:pPr>
              <a:r>
                <a:rPr lang="en-US" sz="1400" dirty="0" smtClean="0"/>
                <a:t>secret</a:t>
              </a:r>
              <a:br>
                <a:rPr lang="en-US" sz="1400" dirty="0" smtClean="0"/>
              </a:br>
              <a:r>
                <a:rPr lang="en-US" sz="1400" dirty="0" smtClean="0"/>
                <a:t>vars</a:t>
              </a:r>
              <a:endParaRPr lang="en-US" sz="1400" dirty="0"/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>
              <a:off x="6753374" y="992411"/>
              <a:ext cx="466953" cy="591196"/>
            </a:xfrm>
            <a:prstGeom prst="straightConnector1">
              <a:avLst/>
            </a:prstGeom>
            <a:ln w="2540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6877058" y="962255"/>
              <a:ext cx="638316" cy="441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b="1" dirty="0" smtClean="0">
                  <a:solidFill>
                    <a:schemeClr val="bg2">
                      <a:lumMod val="25000"/>
                    </a:schemeClr>
                  </a:solidFill>
                </a:rPr>
                <a:t>public</a:t>
              </a:r>
              <a:br>
                <a:rPr lang="en-US" sz="1400" b="1" dirty="0" smtClean="0">
                  <a:solidFill>
                    <a:schemeClr val="bg2">
                      <a:lumMod val="25000"/>
                    </a:schemeClr>
                  </a:solidFill>
                </a:rPr>
              </a:br>
              <a:r>
                <a:rPr lang="en-US" sz="1400" b="1" dirty="0" smtClean="0">
                  <a:solidFill>
                    <a:schemeClr val="bg2">
                      <a:lumMod val="25000"/>
                    </a:schemeClr>
                  </a:solidFill>
                </a:rPr>
                <a:t>exec</a:t>
              </a:r>
              <a:endParaRPr lang="en-US" sz="1400" b="1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821777" y="870194"/>
              <a:ext cx="635109" cy="441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b="1" dirty="0" smtClean="0">
                  <a:solidFill>
                    <a:schemeClr val="tx2"/>
                  </a:solidFill>
                </a:rPr>
                <a:t>secret</a:t>
              </a:r>
              <a:br>
                <a:rPr lang="en-US" sz="1400" b="1" dirty="0" smtClean="0">
                  <a:solidFill>
                    <a:schemeClr val="tx2"/>
                  </a:solidFill>
                </a:rPr>
              </a:br>
              <a:r>
                <a:rPr lang="en-US" sz="1400" b="1" dirty="0" smtClean="0">
                  <a:solidFill>
                    <a:schemeClr val="tx2"/>
                  </a:solidFill>
                </a:rPr>
                <a:t>exec</a:t>
              </a:r>
              <a:endParaRPr lang="en-US" sz="1400" b="1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448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 smtClean="0"/>
              <a:t>More realistic leakage models for information flow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52500"/>
            <a:ext cx="8610600" cy="426720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sz="2000" b="1" dirty="0" smtClean="0">
                <a:solidFill>
                  <a:srgbClr val="C00000"/>
                </a:solidFill>
              </a:rPr>
              <a:t>Cryptographic </a:t>
            </a:r>
            <a:r>
              <a:rPr lang="en-US" sz="2000" b="1" dirty="0">
                <a:solidFill>
                  <a:srgbClr val="C00000"/>
                </a:solidFill>
              </a:rPr>
              <a:t>c</a:t>
            </a:r>
            <a:r>
              <a:rPr lang="en-US" sz="2000" b="1" dirty="0" smtClean="0">
                <a:solidFill>
                  <a:srgbClr val="C00000"/>
                </a:solidFill>
              </a:rPr>
              <a:t>onstant time</a:t>
            </a:r>
            <a:r>
              <a:rPr lang="en-US" sz="2000" dirty="0" smtClean="0"/>
              <a:t> (i.e. secret independent timing)</a:t>
            </a:r>
          </a:p>
          <a:p>
            <a:pPr lvl="1">
              <a:lnSpc>
                <a:spcPct val="120000"/>
              </a:lnSpc>
            </a:pPr>
            <a:r>
              <a:rPr lang="en-US" sz="1600" b="1" dirty="0" smtClean="0"/>
              <a:t>widely-used programming discipline for writing cryptographic code</a:t>
            </a:r>
            <a:br>
              <a:rPr lang="en-US" sz="1600" b="1" dirty="0" smtClean="0"/>
            </a:br>
            <a:r>
              <a:rPr lang="en-US" sz="1600" dirty="0" smtClean="0"/>
              <a:t>without leaking secrets via obvious cache </a:t>
            </a:r>
            <a:r>
              <a:rPr lang="en-US" sz="1600" b="1" u="sng" dirty="0" smtClean="0"/>
              <a:t>side channels</a:t>
            </a:r>
            <a:r>
              <a:rPr lang="en-US" sz="1600" dirty="0" smtClean="0"/>
              <a:t>:</a:t>
            </a:r>
          </a:p>
          <a:p>
            <a:pPr lvl="2">
              <a:lnSpc>
                <a:spcPct val="120000"/>
              </a:lnSpc>
            </a:pPr>
            <a:r>
              <a:rPr lang="en-US" sz="1600" dirty="0" smtClean="0"/>
              <a:t>no secret-dependent branches and no secret-dependent memory accesses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the obtained guarantees formalized as a </a:t>
            </a:r>
            <a:r>
              <a:rPr lang="en-US" sz="1600" b="1" u="sng" dirty="0">
                <a:solidFill>
                  <a:srgbClr val="C00000"/>
                </a:solidFill>
              </a:rPr>
              <a:t>variant of noninterference</a:t>
            </a:r>
            <a:endParaRPr lang="en-US" sz="1600" dirty="0" smtClean="0"/>
          </a:p>
          <a:p>
            <a:pPr lvl="1">
              <a:lnSpc>
                <a:spcPct val="120000"/>
              </a:lnSpc>
            </a:pPr>
            <a:r>
              <a:rPr lang="en-US" sz="1600" dirty="0" smtClean="0"/>
              <a:t>can also be checked by a </a:t>
            </a:r>
            <a:r>
              <a:rPr lang="en-US" sz="1600" b="1" u="sng" dirty="0" smtClean="0">
                <a:solidFill>
                  <a:schemeClr val="tx2"/>
                </a:solidFill>
              </a:rPr>
              <a:t>simple type system</a:t>
            </a:r>
            <a:endParaRPr lang="en-US" sz="1600" b="1" u="sng" dirty="0" smtClean="0">
              <a:solidFill>
                <a:srgbClr val="C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2000" b="1" u="sng" dirty="0" smtClean="0">
                <a:solidFill>
                  <a:srgbClr val="C00000"/>
                </a:solidFill>
              </a:rPr>
              <a:t>Speculative</a:t>
            </a:r>
            <a:r>
              <a:rPr lang="en-US" sz="2000" b="1" dirty="0" smtClean="0">
                <a:solidFill>
                  <a:srgbClr val="C00000"/>
                </a:solidFill>
              </a:rPr>
              <a:t> security 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(Cătălin, Yonghyun, Yan, et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 and Jana et al.)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>
              <a:lnSpc>
                <a:spcPct val="130000"/>
              </a:lnSpc>
            </a:pPr>
            <a:r>
              <a:rPr lang="en-US" sz="1600" dirty="0" smtClean="0"/>
              <a:t>Spectre: constant time code can still leak because of speculative execution</a:t>
            </a:r>
          </a:p>
          <a:p>
            <a:pPr lvl="1">
              <a:lnSpc>
                <a:spcPct val="130000"/>
              </a:lnSpc>
            </a:pPr>
            <a:r>
              <a:rPr lang="en-US" sz="1600" b="1" u="sng" dirty="0" smtClean="0">
                <a:solidFill>
                  <a:srgbClr val="C00000"/>
                </a:solidFill>
              </a:rPr>
              <a:t>Speculative constant time</a:t>
            </a:r>
          </a:p>
          <a:p>
            <a:pPr lvl="2">
              <a:lnSpc>
                <a:spcPct val="130000"/>
              </a:lnSpc>
            </a:pPr>
            <a:r>
              <a:rPr lang="en-US" sz="1400" b="1" u="sng" dirty="0" smtClean="0">
                <a:solidFill>
                  <a:srgbClr val="C00000"/>
                </a:solidFill>
              </a:rPr>
              <a:t>variant of noninterference</a:t>
            </a:r>
            <a:r>
              <a:rPr lang="en-US" sz="1400" b="1" dirty="0" smtClean="0">
                <a:solidFill>
                  <a:srgbClr val="C00000"/>
                </a:solidFill>
              </a:rPr>
              <a:t> </a:t>
            </a:r>
            <a:r>
              <a:rPr lang="en-US" sz="1400" dirty="0" smtClean="0"/>
              <a:t>that prevents leaks in speculative executions</a:t>
            </a:r>
          </a:p>
          <a:p>
            <a:pPr lvl="1">
              <a:lnSpc>
                <a:spcPct val="130000"/>
              </a:lnSpc>
            </a:pPr>
            <a:r>
              <a:rPr lang="en-US" sz="1600" b="1" u="sng" dirty="0" smtClean="0">
                <a:solidFill>
                  <a:schemeClr val="tx2"/>
                </a:solidFill>
              </a:rPr>
              <a:t>Speculative load hardening</a:t>
            </a:r>
            <a:r>
              <a:rPr lang="en-US" sz="1600" dirty="0" smtClean="0"/>
              <a:t> transformation enforcing this security property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238500"/>
            <a:ext cx="874866" cy="104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91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/>
          <a:lstStyle/>
          <a:p>
            <a:r>
              <a:rPr lang="en-US" b="1" dirty="0" smtClean="0"/>
              <a:t>In this course you will learn ...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2500"/>
            <a:ext cx="8458200" cy="3771636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to write purely functional programs in </a:t>
            </a:r>
            <a:r>
              <a:rPr lang="en-US" sz="2400" b="1" dirty="0" err="1" smtClean="0">
                <a:solidFill>
                  <a:schemeClr val="tx2"/>
                </a:solidFill>
              </a:rPr>
              <a:t>Rocq</a:t>
            </a:r>
            <a:endParaRPr lang="en-US" sz="2400" b="1" dirty="0">
              <a:solidFill>
                <a:schemeClr val="tx2"/>
              </a:solidFill>
            </a:endParaRPr>
          </a:p>
          <a:p>
            <a:pPr lvl="1"/>
            <a:r>
              <a:rPr lang="en-US" sz="2000" dirty="0" smtClean="0"/>
              <a:t>natural numbers, lists, trees, program syntax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to verify these programs by proving theorems about them</a:t>
            </a:r>
          </a:p>
          <a:p>
            <a:pPr lvl="1"/>
            <a:r>
              <a:rPr lang="en-US" sz="2000" dirty="0" smtClean="0"/>
              <a:t>case analysis, induction, inversion, proof automation, ...</a:t>
            </a:r>
            <a:endParaRPr lang="en-US" sz="2000" dirty="0"/>
          </a:p>
          <a:p>
            <a:r>
              <a:rPr lang="en-US" sz="2400" b="1" dirty="0" smtClean="0">
                <a:solidFill>
                  <a:schemeClr val="tx2"/>
                </a:solidFill>
              </a:rPr>
              <a:t>to formalize a simple imperative programming language</a:t>
            </a:r>
          </a:p>
          <a:p>
            <a:pPr lvl="1"/>
            <a:r>
              <a:rPr lang="en-US" sz="2066" dirty="0" smtClean="0"/>
              <a:t>syntax and operational semantics (evaluation derivations)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to make programs secure with information-flow control</a:t>
            </a:r>
          </a:p>
          <a:p>
            <a:pPr lvl="1"/>
            <a:r>
              <a:rPr lang="en-US" sz="2066" dirty="0" smtClean="0"/>
              <a:t>enforcing noninterference statically or dynamically</a:t>
            </a:r>
          </a:p>
          <a:p>
            <a:pPr lvl="1"/>
            <a:r>
              <a:rPr lang="en-US" sz="2066" dirty="0" smtClean="0"/>
              <a:t>even against side-channels and speculative executions attacks</a:t>
            </a:r>
            <a:br>
              <a:rPr lang="en-US" sz="2066" dirty="0" smtClean="0"/>
            </a:br>
            <a:r>
              <a:rPr lang="en-US" sz="2066" dirty="0" smtClean="0"/>
              <a:t>(optional for BSc students)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70" t="17193" r="27595" b="20475"/>
          <a:stretch/>
        </p:blipFill>
        <p:spPr>
          <a:xfrm>
            <a:off x="7616311" y="196797"/>
            <a:ext cx="1299089" cy="113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0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44" r="-4644" b="21495"/>
          <a:stretch/>
        </p:blipFill>
        <p:spPr>
          <a:xfrm>
            <a:off x="6172200" y="800100"/>
            <a:ext cx="2514600" cy="23837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0100"/>
          </a:xfrm>
        </p:spPr>
        <p:txBody>
          <a:bodyPr/>
          <a:lstStyle/>
          <a:p>
            <a:r>
              <a:rPr lang="en-US" b="1" dirty="0" smtClean="0"/>
              <a:t>This course is </a:t>
            </a:r>
            <a:r>
              <a:rPr lang="en-US" sz="4000" b="1" dirty="0" smtClean="0"/>
              <a:t>very </a:t>
            </a:r>
            <a:r>
              <a:rPr lang="en-US" sz="4000" b="1" dirty="0"/>
              <a:t>hands </a:t>
            </a:r>
            <a:r>
              <a:rPr lang="en-US" sz="4000" b="1" dirty="0" smtClean="0"/>
              <a:t>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6300"/>
            <a:ext cx="8229600" cy="3962400"/>
          </a:xfrm>
        </p:spPr>
        <p:txBody>
          <a:bodyPr>
            <a:normAutofit/>
          </a:bodyPr>
          <a:lstStyle/>
          <a:p>
            <a:r>
              <a:rPr lang="en-US" sz="2334" b="1" dirty="0" smtClean="0"/>
              <a:t>Rocq is your personal proof assistant</a:t>
            </a:r>
          </a:p>
          <a:p>
            <a:pPr lvl="1"/>
            <a:r>
              <a:rPr lang="en-US" sz="2000" dirty="0" smtClean="0"/>
              <a:t>Taking gamification to the next level!</a:t>
            </a:r>
          </a:p>
          <a:p>
            <a:r>
              <a:rPr lang="en-US" sz="2400" b="1" dirty="0" smtClean="0"/>
              <a:t>Course based on two textbook volumes</a:t>
            </a:r>
          </a:p>
          <a:p>
            <a:pPr lvl="1"/>
            <a:r>
              <a:rPr lang="en-US" sz="2000" b="1" dirty="0"/>
              <a:t>lots of </a:t>
            </a:r>
            <a:r>
              <a:rPr lang="en-US" sz="2000" b="1" u="sng" dirty="0"/>
              <a:t>exercises</a:t>
            </a:r>
            <a:r>
              <a:rPr lang="en-US" sz="2000" b="1" dirty="0"/>
              <a:t> in </a:t>
            </a:r>
            <a:r>
              <a:rPr lang="en-US" sz="2000" b="1" dirty="0" smtClean="0"/>
              <a:t>Rocq</a:t>
            </a:r>
            <a:r>
              <a:rPr lang="en-US" sz="2000" dirty="0" smtClean="0"/>
              <a:t>,</a:t>
            </a:r>
            <a:br>
              <a:rPr lang="en-US" sz="2000" dirty="0" smtClean="0"/>
            </a:br>
            <a:r>
              <a:rPr lang="en-US" sz="2000" dirty="0" smtClean="0"/>
              <a:t>from very simple to more challenging ones</a:t>
            </a:r>
          </a:p>
          <a:p>
            <a:pPr lvl="1"/>
            <a:r>
              <a:rPr lang="en-US" sz="2000" dirty="0" smtClean="0"/>
              <a:t>our volume versions </a:t>
            </a:r>
            <a:r>
              <a:rPr lang="en-US" sz="2000" dirty="0"/>
              <a:t>available at:</a:t>
            </a:r>
            <a:br>
              <a:rPr lang="en-US" sz="2000" dirty="0"/>
            </a:br>
            <a:r>
              <a:rPr lang="en-US" sz="1600" dirty="0">
                <a:hlinkClick r:id="rId4"/>
              </a:rPr>
              <a:t>https://</a:t>
            </a:r>
            <a:r>
              <a:rPr lang="en-US" sz="1600" dirty="0" smtClean="0">
                <a:hlinkClick r:id="rId4"/>
              </a:rPr>
              <a:t>mpi-sp-pap-2026.github.io/book-lf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>
                <a:hlinkClick r:id="rId5"/>
              </a:rPr>
              <a:t>https://</a:t>
            </a:r>
            <a:r>
              <a:rPr lang="en-US" sz="1600" dirty="0" smtClean="0">
                <a:hlinkClick r:id="rId5"/>
              </a:rPr>
              <a:t>mpi-sp-pap-2026.github.io/book-secf</a:t>
            </a:r>
            <a:endParaRPr lang="en-US" sz="1600" dirty="0" smtClean="0"/>
          </a:p>
          <a:p>
            <a:r>
              <a:rPr lang="en-US" sz="2400" b="1" dirty="0" smtClean="0">
                <a:solidFill>
                  <a:schemeClr val="tx2"/>
                </a:solidFill>
              </a:rPr>
              <a:t>You will understand </a:t>
            </a:r>
            <a:r>
              <a:rPr lang="en-US" sz="2400" b="1" u="sng" dirty="0" smtClean="0">
                <a:solidFill>
                  <a:schemeClr val="tx2"/>
                </a:solidFill>
              </a:rPr>
              <a:t>proving</a:t>
            </a:r>
          </a:p>
          <a:p>
            <a:pPr lvl="1"/>
            <a:r>
              <a:rPr lang="en-US" sz="2000" dirty="0" smtClean="0"/>
              <a:t>It's not hard, it's just programming!</a:t>
            </a:r>
          </a:p>
          <a:p>
            <a:pPr lvl="1"/>
            <a:r>
              <a:rPr lang="en-US" sz="2000" dirty="0" smtClean="0"/>
              <a:t>If you like programming,</a:t>
            </a:r>
            <a:br>
              <a:rPr lang="en-US" sz="2000" dirty="0" smtClean="0"/>
            </a:br>
            <a:r>
              <a:rPr lang="en-US" sz="2000" dirty="0" smtClean="0"/>
              <a:t>you will like formal proofs too!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Advice: </a:t>
            </a:r>
            <a:r>
              <a:rPr lang="en-US" sz="2400" b="1" dirty="0" smtClean="0">
                <a:solidFill>
                  <a:schemeClr val="tx2"/>
                </a:solidFill>
              </a:rPr>
              <a:t>ask </a:t>
            </a:r>
            <a:r>
              <a:rPr lang="en-US" sz="2400" b="1" dirty="0">
                <a:solidFill>
                  <a:schemeClr val="tx2"/>
                </a:solidFill>
              </a:rPr>
              <a:t>questions, </a:t>
            </a:r>
            <a:r>
              <a:rPr lang="en-US" sz="2400" b="1" dirty="0" smtClean="0">
                <a:solidFill>
                  <a:schemeClr val="tx2"/>
                </a:solidFill>
              </a:rPr>
              <a:t>interact</a:t>
            </a:r>
            <a:endParaRPr lang="en-US" sz="2334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15</a:t>
            </a:fld>
            <a:endParaRPr lang="en-US"/>
          </a:p>
        </p:txBody>
      </p:sp>
      <p:pic>
        <p:nvPicPr>
          <p:cNvPr id="8" name="Content Placeholder 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43"/>
          <a:stretch/>
        </p:blipFill>
        <p:spPr>
          <a:xfrm>
            <a:off x="6285963" y="3244403"/>
            <a:ext cx="2286000" cy="197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24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/>
          <a:lstStyle/>
          <a:p>
            <a:r>
              <a:rPr lang="en-US" b="1" dirty="0" smtClean="0"/>
              <a:t>Lecture logistics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14 lectures: roughly first 1/2 Clara, second 1/2 </a:t>
            </a:r>
            <a:r>
              <a:rPr lang="en-US" sz="2400" dirty="0"/>
              <a:t>C</a:t>
            </a:r>
            <a:r>
              <a:rPr lang="ro-RO" sz="2400" dirty="0" smtClean="0"/>
              <a:t>ătălin</a:t>
            </a:r>
            <a:endParaRPr lang="en-US" sz="2400" dirty="0" smtClean="0"/>
          </a:p>
          <a:p>
            <a:pPr lvl="1"/>
            <a:r>
              <a:rPr lang="en-US" sz="2000" dirty="0"/>
              <a:t>exceptions: first lecture </a:t>
            </a:r>
            <a:r>
              <a:rPr lang="en-US" sz="2000" dirty="0" smtClean="0"/>
              <a:t>mostly </a:t>
            </a:r>
            <a:r>
              <a:rPr lang="en-US" sz="2000" dirty="0"/>
              <a:t>Cătălin, </a:t>
            </a:r>
            <a:r>
              <a:rPr lang="en-US" sz="2000" dirty="0" smtClean="0"/>
              <a:t>Imp lecture Clara, ...</a:t>
            </a:r>
          </a:p>
          <a:p>
            <a:r>
              <a:rPr lang="en-US" sz="2400" dirty="0" smtClean="0"/>
              <a:t>Pentecost Vacation 25-29 May, so no lecture, no tutorials</a:t>
            </a:r>
            <a:endParaRPr lang="en-US" sz="2400" strike="sngStrike" dirty="0" smtClean="0"/>
          </a:p>
          <a:p>
            <a:r>
              <a:rPr lang="en-US" sz="2400" dirty="0"/>
              <a:t>We hope for a mostly in-person course</a:t>
            </a:r>
          </a:p>
          <a:p>
            <a:pPr lvl="1"/>
            <a:r>
              <a:rPr lang="en-US" sz="2000" b="1" dirty="0"/>
              <a:t>So please attend physically whenever possible!</a:t>
            </a:r>
          </a:p>
          <a:p>
            <a:pPr lvl="1"/>
            <a:r>
              <a:rPr lang="en-US" sz="2000" dirty="0"/>
              <a:t>When you </a:t>
            </a:r>
            <a:r>
              <a:rPr lang="en-US" sz="2000" b="1" u="sng" dirty="0"/>
              <a:t>really cannot</a:t>
            </a:r>
            <a:r>
              <a:rPr lang="en-US" sz="2000" dirty="0"/>
              <a:t> attend physically</a:t>
            </a:r>
            <a:br>
              <a:rPr lang="en-US" sz="2000" dirty="0"/>
            </a:br>
            <a:r>
              <a:rPr lang="en-US" sz="2000" dirty="0"/>
              <a:t>you can use Zoom or watch the recording (see Moodle)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Join on Moodle for all materials</a:t>
            </a:r>
          </a:p>
          <a:p>
            <a:pPr lvl="1"/>
            <a:r>
              <a:rPr lang="en-US" sz="1800" b="1" dirty="0">
                <a:solidFill>
                  <a:schemeClr val="tx2"/>
                </a:solidFill>
              </a:rPr>
              <a:t>If external to </a:t>
            </a:r>
            <a:r>
              <a:rPr lang="en-US" sz="1800" b="1" dirty="0" smtClean="0">
                <a:solidFill>
                  <a:schemeClr val="tx2"/>
                </a:solidFill>
              </a:rPr>
              <a:t>RUB please </a:t>
            </a:r>
            <a:r>
              <a:rPr lang="en-US" sz="1800" b="1" dirty="0">
                <a:solidFill>
                  <a:schemeClr val="tx2"/>
                </a:solidFill>
              </a:rPr>
              <a:t>create account with any email address</a:t>
            </a:r>
          </a:p>
          <a:p>
            <a:r>
              <a:rPr lang="en-US" sz="2134" b="1" dirty="0">
                <a:solidFill>
                  <a:schemeClr val="tx2"/>
                </a:solidFill>
              </a:rPr>
              <a:t>Advice: ask questions, interact during the 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67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/>
          <a:lstStyle/>
          <a:p>
            <a:r>
              <a:rPr lang="en-US" b="1" dirty="0" smtClean="0"/>
              <a:t>Exercises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6300"/>
            <a:ext cx="8229600" cy="4495800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Solving exercises </a:t>
            </a:r>
            <a:r>
              <a:rPr lang="en-US" sz="2000" b="1" u="sng" dirty="0" smtClean="0"/>
              <a:t>strongly</a:t>
            </a:r>
            <a:r>
              <a:rPr lang="en-US" sz="2000" b="1" dirty="0" smtClean="0"/>
              <a:t> recommended</a:t>
            </a:r>
          </a:p>
          <a:p>
            <a:pPr lvl="1"/>
            <a:r>
              <a:rPr lang="en-US" sz="1800" dirty="0" smtClean="0"/>
              <a:t>you will learn the most by writing programs and proofs in </a:t>
            </a:r>
            <a:r>
              <a:rPr lang="en-US" sz="1800" dirty="0" err="1" smtClean="0"/>
              <a:t>Rocq</a:t>
            </a:r>
            <a:endParaRPr lang="en-US" sz="1800" dirty="0" smtClean="0"/>
          </a:p>
          <a:p>
            <a:pPr lvl="1"/>
            <a:r>
              <a:rPr lang="en-US" sz="1800" dirty="0" smtClean="0"/>
              <a:t>very </a:t>
            </a:r>
            <a:r>
              <a:rPr lang="en-US" sz="1800" dirty="0"/>
              <a:t>strong correlation between exercise </a:t>
            </a:r>
            <a:r>
              <a:rPr lang="en-US" sz="1800" dirty="0" smtClean="0"/>
              <a:t>scores and </a:t>
            </a:r>
            <a:r>
              <a:rPr lang="en-US" sz="1800" dirty="0"/>
              <a:t>exam </a:t>
            </a:r>
            <a:r>
              <a:rPr lang="en-US" sz="1800" dirty="0" smtClean="0"/>
              <a:t>scores</a:t>
            </a:r>
          </a:p>
          <a:p>
            <a:pPr lvl="1"/>
            <a:r>
              <a:rPr lang="en-US" sz="1666" b="1" dirty="0"/>
              <a:t>highly recommended even if you're not taking this for </a:t>
            </a:r>
            <a:r>
              <a:rPr lang="en-US" sz="1666" b="1" dirty="0" smtClean="0"/>
              <a:t>credit</a:t>
            </a:r>
          </a:p>
          <a:p>
            <a:r>
              <a:rPr lang="en-US" sz="2000" b="1" dirty="0"/>
              <a:t>Exercises count for up to </a:t>
            </a:r>
            <a:r>
              <a:rPr lang="en-US" sz="2000" b="1" dirty="0" smtClean="0"/>
              <a:t>10</a:t>
            </a:r>
            <a:r>
              <a:rPr lang="en-US" sz="2000" b="1" dirty="0"/>
              <a:t>% of bonus points</a:t>
            </a:r>
            <a:endParaRPr lang="en-US" sz="2000" dirty="0"/>
          </a:p>
          <a:p>
            <a:pPr lvl="1"/>
            <a:r>
              <a:rPr lang="en-US" sz="2000" dirty="0"/>
              <a:t>not required to do the optional exercises; they don't count for </a:t>
            </a:r>
            <a:r>
              <a:rPr lang="en-US" sz="2000" dirty="0" smtClean="0"/>
              <a:t>grade</a:t>
            </a:r>
            <a:endParaRPr lang="en-US" sz="2000" b="1" dirty="0" smtClean="0"/>
          </a:p>
          <a:p>
            <a:r>
              <a:rPr lang="en-US" sz="2000" b="1" dirty="0" smtClean="0"/>
              <a:t>New exercise sheet will be released on Moodle after all courses</a:t>
            </a:r>
          </a:p>
          <a:p>
            <a:pPr lvl="1"/>
            <a:r>
              <a:rPr lang="en-US" sz="1800" dirty="0" smtClean="0"/>
              <a:t>there will be around 13 exercise sheets in total</a:t>
            </a:r>
          </a:p>
          <a:p>
            <a:r>
              <a:rPr lang="en-US" sz="2000" dirty="0" smtClean="0"/>
              <a:t>You have to </a:t>
            </a:r>
            <a:r>
              <a:rPr lang="en-US" sz="2000" b="1" dirty="0" smtClean="0"/>
              <a:t>turn in your solution on Moodle before next course</a:t>
            </a:r>
          </a:p>
          <a:p>
            <a:pPr lvl="1"/>
            <a:r>
              <a:rPr lang="en-US" sz="1800" b="1" dirty="0"/>
              <a:t>up to Wednesday at </a:t>
            </a:r>
            <a:r>
              <a:rPr lang="en-US" sz="1800" b="1" u="sng" dirty="0"/>
              <a:t>11:59 </a:t>
            </a:r>
            <a:r>
              <a:rPr lang="en-US" sz="1800" b="1" u="sng" dirty="0" smtClean="0"/>
              <a:t>AM</a:t>
            </a:r>
          </a:p>
          <a:p>
            <a:r>
              <a:rPr lang="en-US" sz="2000" b="1" dirty="0" smtClean="0"/>
              <a:t>Exercises are individual, please don't share solutions in any way!</a:t>
            </a:r>
          </a:p>
          <a:p>
            <a:r>
              <a:rPr lang="en-US" sz="2000" b="1" dirty="0"/>
              <a:t>Using generative AI to solve homework exercises is </a:t>
            </a:r>
            <a:r>
              <a:rPr lang="en-US" sz="2000" b="1" u="sng" dirty="0"/>
              <a:t>not</a:t>
            </a:r>
            <a:r>
              <a:rPr lang="en-US" sz="2000" b="1" dirty="0"/>
              <a:t> allowed!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8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/>
          <a:lstStyle/>
          <a:p>
            <a:r>
              <a:rPr lang="en-US" b="1" dirty="0" smtClean="0"/>
              <a:t>Tutorials: Q&amp;A about the exercise sheets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8700"/>
            <a:ext cx="8610600" cy="4115859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TAs</a:t>
            </a:r>
            <a:r>
              <a:rPr lang="en-US" sz="2400" b="1" dirty="0"/>
              <a:t>:</a:t>
            </a:r>
            <a:r>
              <a:rPr lang="en-US" sz="2400" dirty="0"/>
              <a:t> Yonghyun </a:t>
            </a:r>
            <a:r>
              <a:rPr lang="en-US" sz="2400" dirty="0" smtClean="0"/>
              <a:t>Kim </a:t>
            </a:r>
            <a:r>
              <a:rPr lang="en-US" sz="2400" dirty="0"/>
              <a:t>and Yan Farba</a:t>
            </a:r>
            <a:endParaRPr lang="en-US" sz="2400" dirty="0" smtClean="0"/>
          </a:p>
          <a:p>
            <a:r>
              <a:rPr lang="en-US" sz="2400" b="1" dirty="0"/>
              <a:t>Tuesdays at </a:t>
            </a:r>
            <a:r>
              <a:rPr lang="en-US" sz="2400" b="1" dirty="0" smtClean="0"/>
              <a:t>10:15-11:45, on the 5th floor of this building</a:t>
            </a:r>
            <a:endParaRPr lang="en-US" sz="2400" b="1" dirty="0"/>
          </a:p>
          <a:p>
            <a:r>
              <a:rPr lang="en-US" sz="2400" dirty="0"/>
              <a:t>You can come and </a:t>
            </a:r>
            <a:r>
              <a:rPr lang="en-US" sz="2400" b="1" dirty="0"/>
              <a:t>ask existing questions</a:t>
            </a:r>
          </a:p>
          <a:p>
            <a:pPr lvl="1"/>
            <a:r>
              <a:rPr lang="en-US" sz="2066" dirty="0"/>
              <a:t>Can also ask about old assignments, but solutions anyway on Moodle</a:t>
            </a:r>
            <a:endParaRPr lang="en-US" sz="2400" dirty="0"/>
          </a:p>
          <a:p>
            <a:r>
              <a:rPr lang="en-US" sz="2400" dirty="0"/>
              <a:t>You can also </a:t>
            </a:r>
            <a:r>
              <a:rPr lang="en-US" sz="2400" b="1" dirty="0"/>
              <a:t>work on your own during tutorials</a:t>
            </a:r>
          </a:p>
          <a:p>
            <a:pPr lvl="1"/>
            <a:r>
              <a:rPr lang="en-US" sz="2066" b="1" dirty="0"/>
              <a:t>and ask questions as they arise</a:t>
            </a:r>
          </a:p>
          <a:p>
            <a:r>
              <a:rPr lang="en-US" sz="2400" dirty="0"/>
              <a:t>If you manage to solve an exercise sheet and don't have any questions, then no problem, </a:t>
            </a:r>
            <a:r>
              <a:rPr lang="en-US" sz="2400" b="1" dirty="0"/>
              <a:t>you are not forced to come</a:t>
            </a:r>
          </a:p>
          <a:p>
            <a:r>
              <a:rPr lang="en-US" sz="2400" b="1" dirty="0"/>
              <a:t>Zoom participation in Q&amp;A sessions possible</a:t>
            </a:r>
            <a:r>
              <a:rPr lang="en-US" sz="2400" dirty="0"/>
              <a:t> (same Zoom room)</a:t>
            </a:r>
          </a:p>
          <a:p>
            <a:pPr lvl="1"/>
            <a:r>
              <a:rPr lang="en-US" sz="2066" b="1" dirty="0"/>
              <a:t>if you cannot make it in person</a:t>
            </a:r>
            <a:r>
              <a:rPr lang="en-US" sz="2066" dirty="0"/>
              <a:t>, but in-person participants get priority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6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/>
          <a:lstStyle/>
          <a:p>
            <a:r>
              <a:rPr lang="en-US" b="1" dirty="0" smtClean="0"/>
              <a:t>Exams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/>
              <a:t>Midterm exam</a:t>
            </a:r>
            <a:r>
              <a:rPr lang="en-US" dirty="0" smtClean="0"/>
              <a:t> (optional)</a:t>
            </a:r>
          </a:p>
          <a:p>
            <a:pPr lvl="1"/>
            <a:r>
              <a:rPr lang="en-US" dirty="0" smtClean="0"/>
              <a:t>practice for the final exam</a:t>
            </a:r>
          </a:p>
          <a:p>
            <a:pPr lvl="1"/>
            <a:r>
              <a:rPr lang="en-US" dirty="0" smtClean="0"/>
              <a:t>also written</a:t>
            </a:r>
            <a:r>
              <a:rPr lang="en-US" dirty="0"/>
              <a:t>, on </a:t>
            </a:r>
            <a:r>
              <a:rPr lang="en-US" dirty="0" smtClean="0"/>
              <a:t>paper</a:t>
            </a:r>
          </a:p>
          <a:p>
            <a:pPr lvl="1"/>
            <a:r>
              <a:rPr lang="en-US" dirty="0" smtClean="0"/>
              <a:t>duration: 60 minutes</a:t>
            </a:r>
          </a:p>
          <a:p>
            <a:pPr lvl="1"/>
            <a:r>
              <a:rPr lang="en-US" dirty="0" smtClean="0"/>
              <a:t>bonus points: up to 10%</a:t>
            </a:r>
          </a:p>
          <a:p>
            <a:pPr lvl="1"/>
            <a:r>
              <a:rPr lang="en-US" dirty="0" smtClean="0"/>
              <a:t>date: Tue, 2 June</a:t>
            </a:r>
            <a:endParaRPr lang="en-US" strike="sngStrike" dirty="0" smtClean="0"/>
          </a:p>
          <a:p>
            <a:pPr lvl="2"/>
            <a:r>
              <a:rPr lang="en-US" sz="2000" dirty="0" smtClean="0"/>
              <a:t>time: 10:15-11:15</a:t>
            </a:r>
            <a:endParaRPr lang="en-US" sz="2000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 smtClean="0"/>
              <a:t>Final exam</a:t>
            </a:r>
          </a:p>
          <a:p>
            <a:pPr lvl="1"/>
            <a:r>
              <a:rPr lang="en-US" dirty="0" smtClean="0"/>
              <a:t>written, on paper</a:t>
            </a:r>
          </a:p>
          <a:p>
            <a:pPr lvl="2"/>
            <a:r>
              <a:rPr lang="en-US" dirty="0" smtClean="0"/>
              <a:t>so we will also teach you how to</a:t>
            </a:r>
            <a:br>
              <a:rPr lang="en-US" dirty="0" smtClean="0"/>
            </a:br>
            <a:r>
              <a:rPr lang="en-US" dirty="0" smtClean="0"/>
              <a:t>write down proofs informally</a:t>
            </a:r>
          </a:p>
          <a:p>
            <a:pPr lvl="1"/>
            <a:r>
              <a:rPr lang="en-US" dirty="0" smtClean="0"/>
              <a:t>duration: 120 minutes</a:t>
            </a:r>
          </a:p>
          <a:p>
            <a:pPr lvl="1"/>
            <a:r>
              <a:rPr lang="en-US" dirty="0" smtClean="0"/>
              <a:t>100% of the grade</a:t>
            </a:r>
          </a:p>
          <a:p>
            <a:pPr lvl="1"/>
            <a:r>
              <a:rPr lang="en-US" dirty="0" smtClean="0"/>
              <a:t>date: 7 August</a:t>
            </a:r>
          </a:p>
          <a:p>
            <a:pPr lvl="1"/>
            <a:r>
              <a:rPr lang="en-US" dirty="0" smtClean="0"/>
              <a:t>re-exam: 29 September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6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/>
          <a:lstStyle/>
          <a:p>
            <a:r>
              <a:rPr lang="en-US" b="1" dirty="0" smtClean="0"/>
              <a:t>Credit and grade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850737" y="2756049"/>
            <a:ext cx="1369286" cy="1600209"/>
            <a:chOff x="2850737" y="2756049"/>
            <a:chExt cx="1369286" cy="1600209"/>
          </a:xfrm>
        </p:grpSpPr>
        <p:sp>
          <p:nvSpPr>
            <p:cNvPr id="23" name="Rectangle 22"/>
            <p:cNvSpPr/>
            <p:nvPr/>
          </p:nvSpPr>
          <p:spPr>
            <a:xfrm>
              <a:off x="2895600" y="3518058"/>
              <a:ext cx="381000" cy="83820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850737" y="2756049"/>
              <a:ext cx="13692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7030A0"/>
                  </a:solidFill>
                </a:rPr>
                <a:t>Midterm</a:t>
              </a:r>
              <a:br>
                <a:rPr lang="en-US" b="1" dirty="0" smtClean="0">
                  <a:solidFill>
                    <a:srgbClr val="7030A0"/>
                  </a:solidFill>
                </a:rPr>
              </a:br>
              <a:r>
                <a:rPr lang="en-US" b="1" dirty="0" smtClean="0">
                  <a:solidFill>
                    <a:srgbClr val="7030A0"/>
                  </a:solidFill>
                </a:rPr>
                <a:t>(10% bonus)</a:t>
              </a:r>
              <a:endParaRPr lang="en-US" b="1" dirty="0">
                <a:solidFill>
                  <a:srgbClr val="7030A0"/>
                </a:solidFill>
              </a:endParaRPr>
            </a:p>
          </p:txBody>
        </p:sp>
        <p:sp>
          <p:nvSpPr>
            <p:cNvPr id="25" name="Left Brace 24"/>
            <p:cNvSpPr/>
            <p:nvPr/>
          </p:nvSpPr>
          <p:spPr>
            <a:xfrm rot="5400000">
              <a:off x="3008357" y="3243225"/>
              <a:ext cx="152400" cy="377914"/>
            </a:xfrm>
            <a:prstGeom prst="leftBrace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462316" y="4621768"/>
            <a:ext cx="614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Adding up </a:t>
            </a:r>
            <a:r>
              <a:rPr lang="en-US" b="1" u="sng" dirty="0" smtClean="0"/>
              <a:t>everything</a:t>
            </a:r>
            <a:r>
              <a:rPr lang="en-US" b="1" dirty="0" smtClean="0"/>
              <a:t>, you need </a:t>
            </a:r>
            <a:r>
              <a:rPr lang="en-US" b="1" dirty="0" smtClean="0"/>
              <a:t>49.01% </a:t>
            </a:r>
            <a:r>
              <a:rPr lang="en-US" b="1" dirty="0" smtClean="0"/>
              <a:t>to pass and get credit,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2438400" y="5002768"/>
            <a:ext cx="4932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and </a:t>
            </a:r>
            <a:r>
              <a:rPr lang="en-US" b="1" dirty="0" smtClean="0"/>
              <a:t>you need at </a:t>
            </a:r>
            <a:r>
              <a:rPr lang="en-US" b="1" smtClean="0"/>
              <a:t>least </a:t>
            </a:r>
            <a:r>
              <a:rPr lang="en-US" b="1" smtClean="0"/>
              <a:t>94.01% </a:t>
            </a:r>
            <a:r>
              <a:rPr lang="en-US" b="1" dirty="0" smtClean="0"/>
              <a:t>to get highest grade</a:t>
            </a:r>
            <a:endParaRPr lang="en-US" b="1" dirty="0"/>
          </a:p>
        </p:txBody>
      </p:sp>
      <p:sp>
        <p:nvSpPr>
          <p:cNvPr id="32" name="Content Placeholder 8"/>
          <p:cNvSpPr>
            <a:spLocks noGrp="1"/>
          </p:cNvSpPr>
          <p:nvPr>
            <p:ph sz="half" idx="1"/>
          </p:nvPr>
        </p:nvSpPr>
        <p:spPr>
          <a:xfrm>
            <a:off x="457200" y="914664"/>
            <a:ext cx="4038600" cy="1459261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CASA PhD students</a:t>
            </a:r>
          </a:p>
          <a:p>
            <a:r>
              <a:rPr lang="en-US" sz="1800" dirty="0" smtClean="0"/>
              <a:t>attendance requirement is</a:t>
            </a:r>
            <a:br>
              <a:rPr lang="en-US" sz="1800" dirty="0" smtClean="0"/>
            </a:br>
            <a:r>
              <a:rPr lang="en-US" sz="1800" dirty="0" smtClean="0"/>
              <a:t>50% of the exercises score</a:t>
            </a:r>
          </a:p>
        </p:txBody>
      </p:sp>
      <p:sp>
        <p:nvSpPr>
          <p:cNvPr id="33" name="Content Placeholder 9"/>
          <p:cNvSpPr txBox="1">
            <a:spLocks/>
          </p:cNvSpPr>
          <p:nvPr/>
        </p:nvSpPr>
        <p:spPr>
          <a:xfrm>
            <a:off x="4648200" y="914664"/>
            <a:ext cx="4399348" cy="1809254"/>
          </a:xfrm>
          <a:prstGeom prst="rect">
            <a:avLst/>
          </a:prstGeom>
        </p:spPr>
        <p:txBody>
          <a:bodyPr/>
          <a:lstStyle>
            <a:lvl1pPr marL="285739" indent="-285739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9100" indent="-238115" algn="l" defTabSz="7619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2462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3447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431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5416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You can get </a:t>
            </a:r>
            <a:r>
              <a:rPr lang="en-US" b="1" dirty="0" smtClean="0"/>
              <a:t>credit if you study</a:t>
            </a:r>
          </a:p>
          <a:p>
            <a:r>
              <a:rPr lang="en-US" sz="2000" dirty="0" smtClean="0"/>
              <a:t>Computer Science BSc and MSc</a:t>
            </a:r>
          </a:p>
          <a:p>
            <a:r>
              <a:rPr lang="en-US" sz="2000" dirty="0" smtClean="0"/>
              <a:t>IT Security BSc* and MSc</a:t>
            </a:r>
          </a:p>
          <a:p>
            <a:pPr marL="380985" lvl="1" indent="0">
              <a:buNone/>
            </a:pPr>
            <a:r>
              <a:rPr lang="en-US" sz="1666" dirty="0" smtClean="0"/>
              <a:t>*ITS BSc only as "free elective" (sorry!)</a:t>
            </a:r>
          </a:p>
          <a:p>
            <a:r>
              <a:rPr lang="en-US" sz="2000" dirty="0" smtClean="0"/>
              <a:t>Mathematics MSc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642424" y="1943100"/>
            <a:ext cx="1369286" cy="2410325"/>
            <a:chOff x="1642424" y="1943100"/>
            <a:chExt cx="1369286" cy="2410325"/>
          </a:xfrm>
        </p:grpSpPr>
        <p:sp>
          <p:nvSpPr>
            <p:cNvPr id="14" name="Rectangle 13"/>
            <p:cNvSpPr/>
            <p:nvPr/>
          </p:nvSpPr>
          <p:spPr>
            <a:xfrm>
              <a:off x="2517686" y="3515225"/>
              <a:ext cx="381000" cy="838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Left Brace 18"/>
            <p:cNvSpPr/>
            <p:nvPr/>
          </p:nvSpPr>
          <p:spPr>
            <a:xfrm rot="5400000">
              <a:off x="2631494" y="3253952"/>
              <a:ext cx="155387" cy="372824"/>
            </a:xfrm>
            <a:prstGeom prst="leftBrace">
              <a:avLst>
                <a:gd name="adj1" fmla="val 131534"/>
                <a:gd name="adj2" fmla="val 50000"/>
              </a:avLst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642424" y="2753216"/>
              <a:ext cx="13692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C00000"/>
                  </a:solidFill>
                </a:rPr>
                <a:t>Exercises</a:t>
              </a:r>
              <a:br>
                <a:rPr lang="en-US" b="1" dirty="0" smtClean="0">
                  <a:solidFill>
                    <a:srgbClr val="C00000"/>
                  </a:solidFill>
                </a:rPr>
              </a:br>
              <a:r>
                <a:rPr lang="en-US" b="1" dirty="0" smtClean="0">
                  <a:solidFill>
                    <a:srgbClr val="C00000"/>
                  </a:solidFill>
                </a:rPr>
                <a:t>(10% bonus)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cxnSp>
          <p:nvCxnSpPr>
            <p:cNvPr id="35" name="Straight Arrow Connector 34"/>
            <p:cNvCxnSpPr>
              <a:endCxn id="20" idx="0"/>
            </p:cNvCxnSpPr>
            <p:nvPr/>
          </p:nvCxnSpPr>
          <p:spPr>
            <a:xfrm flipH="1">
              <a:off x="2327067" y="1943100"/>
              <a:ext cx="21987" cy="810116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3283233" y="3069231"/>
            <a:ext cx="3811694" cy="1284040"/>
            <a:chOff x="3283233" y="3069231"/>
            <a:chExt cx="3811694" cy="1284040"/>
          </a:xfrm>
        </p:grpSpPr>
        <p:sp>
          <p:nvSpPr>
            <p:cNvPr id="7" name="Rectangle 6"/>
            <p:cNvSpPr/>
            <p:nvPr/>
          </p:nvSpPr>
          <p:spPr>
            <a:xfrm>
              <a:off x="3660686" y="3515071"/>
              <a:ext cx="3810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041686" y="3515071"/>
              <a:ext cx="3810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422686" y="3514917"/>
              <a:ext cx="3810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03686" y="3514917"/>
              <a:ext cx="3810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83143" y="3514917"/>
              <a:ext cx="3810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562600" y="3514917"/>
              <a:ext cx="3810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247442" y="3069231"/>
              <a:ext cx="1924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chemeClr val="tx2"/>
                  </a:solidFill>
                </a:rPr>
                <a:t>Final exam (100%)</a:t>
              </a:r>
              <a:endParaRPr lang="en-US" b="1" dirty="0">
                <a:solidFill>
                  <a:schemeClr val="tx2"/>
                </a:solidFill>
              </a:endParaRPr>
            </a:p>
          </p:txBody>
        </p:sp>
        <p:sp>
          <p:nvSpPr>
            <p:cNvPr id="22" name="Left Brace 21"/>
            <p:cNvSpPr/>
            <p:nvPr/>
          </p:nvSpPr>
          <p:spPr>
            <a:xfrm rot="5400000">
              <a:off x="5112108" y="1533796"/>
              <a:ext cx="152400" cy="3810150"/>
            </a:xfrm>
            <a:prstGeom prst="leftBrace">
              <a:avLst>
                <a:gd name="adj1" fmla="val 62178"/>
                <a:gd name="adj2" fmla="val 50000"/>
              </a:avLst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283233" y="3514763"/>
              <a:ext cx="3810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947147" y="3514763"/>
              <a:ext cx="3810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330537" y="3514763"/>
              <a:ext cx="3810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713927" y="3514763"/>
              <a:ext cx="3810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9" name="Straight Arrow Connector 38"/>
          <p:cNvCxnSpPr/>
          <p:nvPr/>
        </p:nvCxnSpPr>
        <p:spPr>
          <a:xfrm flipH="1">
            <a:off x="2590800" y="1218010"/>
            <a:ext cx="2022387" cy="162209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24" idx="0"/>
          </p:cNvCxnSpPr>
          <p:nvPr/>
        </p:nvCxnSpPr>
        <p:spPr>
          <a:xfrm flipH="1">
            <a:off x="3535380" y="1333500"/>
            <a:ext cx="1112820" cy="14225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4419600" y="1409700"/>
            <a:ext cx="304800" cy="169874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46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uiExpan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Backup Slides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9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/>
          <a:lstStyle/>
          <a:p>
            <a:r>
              <a:rPr lang="en-US" b="1" dirty="0" smtClean="0"/>
              <a:t>Logics and proofs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22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7553386" y="177225"/>
            <a:ext cx="1438214" cy="2375475"/>
            <a:chOff x="6974887" y="1676400"/>
            <a:chExt cx="1438214" cy="237547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1501" y="1676400"/>
              <a:ext cx="1295400" cy="1734069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6974887" y="3467100"/>
              <a:ext cx="14382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Optima"/>
                  <a:cs typeface="Optima"/>
                </a:rPr>
                <a:t>Aristotle</a:t>
              </a:r>
            </a:p>
            <a:p>
              <a:pPr algn="ctr"/>
              <a:r>
                <a:rPr lang="en-US" sz="1600" dirty="0">
                  <a:latin typeface="Optima"/>
                  <a:cs typeface="Optima"/>
                </a:rPr>
                <a:t>384 – 322 BC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655329" y="2628900"/>
            <a:ext cx="1336271" cy="2970431"/>
            <a:chOff x="7102450" y="3200400"/>
            <a:chExt cx="1336271" cy="297043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02450" y="3200400"/>
              <a:ext cx="1336271" cy="2308105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7239000" y="5524500"/>
              <a:ext cx="10687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Optima"/>
                  <a:cs typeface="Optima"/>
                </a:rPr>
                <a:t>Euclid</a:t>
              </a:r>
            </a:p>
            <a:p>
              <a:pPr algn="ctr"/>
              <a:r>
                <a:rPr lang="en-US" dirty="0">
                  <a:latin typeface="Optima"/>
                  <a:cs typeface="Optima"/>
                </a:rPr>
                <a:t>~300 BC</a:t>
              </a:r>
            </a:p>
          </p:txBody>
        </p:sp>
      </p:grpSp>
      <p:sp>
        <p:nvSpPr>
          <p:cNvPr id="12" name="Content Placeholder 12"/>
          <p:cNvSpPr>
            <a:spLocks noGrp="1"/>
          </p:cNvSpPr>
          <p:nvPr>
            <p:ph idx="1"/>
          </p:nvPr>
        </p:nvSpPr>
        <p:spPr>
          <a:xfrm>
            <a:off x="51427" y="952499"/>
            <a:ext cx="7492373" cy="464683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2000" dirty="0">
                <a:solidFill>
                  <a:schemeClr val="accent4"/>
                </a:solidFill>
              </a:rPr>
              <a:t>Q:</a:t>
            </a:r>
            <a:r>
              <a:rPr lang="en-US" sz="2000" dirty="0"/>
              <a:t> How do we know something is true?</a:t>
            </a:r>
          </a:p>
          <a:p>
            <a:pPr>
              <a:buNone/>
            </a:pPr>
            <a:r>
              <a:rPr lang="fi-FI" sz="2000" dirty="0">
                <a:solidFill>
                  <a:schemeClr val="accent5"/>
                </a:solidFill>
              </a:rPr>
              <a:t>A:</a:t>
            </a:r>
            <a:r>
              <a:rPr lang="en-US" sz="2000" dirty="0"/>
              <a:t> We prove it</a:t>
            </a:r>
          </a:p>
          <a:p>
            <a:pPr>
              <a:buNone/>
            </a:pPr>
            <a:r>
              <a:rPr lang="fr-FR" sz="2000" dirty="0">
                <a:solidFill>
                  <a:srgbClr val="8064A2"/>
                </a:solidFill>
              </a:rPr>
              <a:t>Q:</a:t>
            </a:r>
            <a:r>
              <a:rPr lang="en-US" sz="2000" dirty="0"/>
              <a:t> How do we know that we have a </a:t>
            </a:r>
            <a:r>
              <a:rPr lang="en-US" sz="2000" b="1" dirty="0"/>
              <a:t>proof</a:t>
            </a:r>
            <a:r>
              <a:rPr lang="en-US" sz="2000" dirty="0"/>
              <a:t>?</a:t>
            </a:r>
          </a:p>
          <a:p>
            <a:pPr>
              <a:buNone/>
            </a:pPr>
            <a:r>
              <a:rPr lang="fi-FI" sz="2000" dirty="0">
                <a:solidFill>
                  <a:schemeClr val="accent5"/>
                </a:solidFill>
              </a:rPr>
              <a:t>A:</a:t>
            </a:r>
            <a:r>
              <a:rPr lang="en-US" sz="2000" dirty="0"/>
              <a:t> We need to know what it means for something to be a proof. </a:t>
            </a:r>
            <a:br>
              <a:rPr lang="en-US" sz="2000" dirty="0"/>
            </a:br>
            <a:r>
              <a:rPr lang="en-US" sz="2000" dirty="0"/>
              <a:t>First cut: A proof is a “logical” sequence of </a:t>
            </a:r>
            <a:r>
              <a:rPr lang="en-US" sz="2000" dirty="0" smtClean="0"/>
              <a:t>arguments,</a:t>
            </a:r>
            <a:br>
              <a:rPr lang="en-US" sz="2000" dirty="0" smtClean="0"/>
            </a:br>
            <a:r>
              <a:rPr lang="en-US" sz="2000" dirty="0" smtClean="0"/>
              <a:t>starting </a:t>
            </a:r>
            <a:r>
              <a:rPr lang="en-US" sz="2000" dirty="0"/>
              <a:t>from some initial assumptions</a:t>
            </a:r>
          </a:p>
          <a:p>
            <a:pPr>
              <a:buNone/>
            </a:pPr>
            <a:r>
              <a:rPr lang="fr-FR" sz="2000" dirty="0">
                <a:solidFill>
                  <a:srgbClr val="8064A2"/>
                </a:solidFill>
              </a:rPr>
              <a:t>Q:</a:t>
            </a:r>
            <a:r>
              <a:rPr lang="en-US" sz="2000" dirty="0"/>
              <a:t> How do we agree on what is a </a:t>
            </a:r>
            <a:r>
              <a:rPr lang="en-US" sz="2000" b="1" dirty="0"/>
              <a:t>valid</a:t>
            </a:r>
            <a:r>
              <a:rPr lang="en-US" sz="2000" dirty="0"/>
              <a:t> sequence of </a:t>
            </a:r>
            <a:r>
              <a:rPr lang="en-US" sz="2000" dirty="0" smtClean="0"/>
              <a:t>arguments?</a:t>
            </a:r>
            <a:br>
              <a:rPr lang="en-US" sz="2000" dirty="0" smtClean="0"/>
            </a:br>
            <a:r>
              <a:rPr lang="en-US" sz="2000" dirty="0" smtClean="0"/>
              <a:t>Can </a:t>
            </a:r>
            <a:r>
              <a:rPr lang="en-US" sz="2000" dirty="0"/>
              <a:t>any sequence be a proof?  E.g.</a:t>
            </a:r>
          </a:p>
          <a:p>
            <a:pPr>
              <a:buNone/>
            </a:pPr>
            <a:r>
              <a:rPr lang="en-US" sz="2000" dirty="0"/>
              <a:t>               </a:t>
            </a:r>
            <a:r>
              <a:rPr lang="en-US" sz="2000" dirty="0">
                <a:solidFill>
                  <a:schemeClr val="accent1"/>
                </a:solidFill>
              </a:rPr>
              <a:t>All humans are mortal</a:t>
            </a:r>
          </a:p>
          <a:p>
            <a:pPr>
              <a:buNone/>
            </a:pPr>
            <a:r>
              <a:rPr lang="en-US" sz="2000" dirty="0">
                <a:solidFill>
                  <a:schemeClr val="accent1"/>
                </a:solidFill>
              </a:rPr>
              <a:t>	          All Greeks are human</a:t>
            </a:r>
          </a:p>
          <a:p>
            <a:pPr>
              <a:buNone/>
            </a:pPr>
            <a:r>
              <a:rPr lang="en-US" sz="2000" dirty="0">
                <a:solidFill>
                  <a:schemeClr val="accent1"/>
                </a:solidFill>
              </a:rPr>
              <a:t>               Therefore I am a Greek!</a:t>
            </a:r>
          </a:p>
          <a:p>
            <a:pPr>
              <a:buNone/>
            </a:pPr>
            <a:r>
              <a:rPr lang="fi-FI" sz="2000" dirty="0">
                <a:solidFill>
                  <a:schemeClr val="accent5"/>
                </a:solidFill>
              </a:rPr>
              <a:t>A:</a:t>
            </a:r>
            <a:r>
              <a:rPr lang="en-US" sz="2000" dirty="0"/>
              <a:t> </a:t>
            </a:r>
            <a:r>
              <a:rPr lang="en-US" sz="1900" dirty="0"/>
              <a:t>No, no, no! </a:t>
            </a:r>
            <a:r>
              <a:rPr lang="en-US" sz="1900" dirty="0" smtClean="0"/>
              <a:t>We </a:t>
            </a:r>
            <a:r>
              <a:rPr lang="en-US" sz="1900" dirty="0"/>
              <a:t>need to think harder about </a:t>
            </a:r>
            <a:r>
              <a:rPr lang="en-US" sz="1900" b="1" dirty="0"/>
              <a:t>valid</a:t>
            </a:r>
            <a:r>
              <a:rPr lang="en-US" sz="1900" dirty="0"/>
              <a:t> ways </a:t>
            </a:r>
            <a:r>
              <a:rPr lang="en-US" sz="1900" dirty="0" smtClean="0"/>
              <a:t>of reasoning</a:t>
            </a:r>
            <a:r>
              <a:rPr lang="en-US" sz="190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95338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/>
          <a:lstStyle/>
          <a:p>
            <a:r>
              <a:rPr lang="en-US" b="1" dirty="0" smtClean="0"/>
              <a:t>The story of logics is quite fascinating</a:t>
            </a:r>
            <a:endParaRPr lang="en-US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57200" y="1028700"/>
            <a:ext cx="4038600" cy="3657600"/>
          </a:xfrm>
        </p:spPr>
        <p:txBody>
          <a:bodyPr>
            <a:noAutofit/>
          </a:bodyPr>
          <a:lstStyle/>
          <a:p>
            <a:r>
              <a:rPr lang="en-US" sz="1800" b="1" dirty="0"/>
              <a:t>David Hilbert</a:t>
            </a:r>
            <a:r>
              <a:rPr lang="en-US" sz="1800" dirty="0"/>
              <a:t> (1862 – 1943</a:t>
            </a:r>
            <a:r>
              <a:rPr lang="en-US" sz="1800" dirty="0" smtClean="0"/>
              <a:t>)</a:t>
            </a:r>
            <a:endParaRPr lang="en-US" sz="1800" b="1" dirty="0" smtClean="0"/>
          </a:p>
          <a:p>
            <a:r>
              <a:rPr lang="en-US" sz="1800" b="1" dirty="0" smtClean="0"/>
              <a:t>Gottlob Frege</a:t>
            </a:r>
            <a:r>
              <a:rPr lang="en-US" sz="1800" dirty="0" smtClean="0"/>
              <a:t> (</a:t>
            </a:r>
            <a:r>
              <a:rPr lang="en-US" sz="1800" dirty="0" smtClean="0">
                <a:cs typeface="Optima"/>
              </a:rPr>
              <a:t>1848-1925)</a:t>
            </a:r>
          </a:p>
          <a:p>
            <a:pPr lvl="1"/>
            <a:r>
              <a:rPr lang="en-US" sz="1600" dirty="0" smtClean="0"/>
              <a:t>first-order logic (∀x. P x /\ R x x)</a:t>
            </a:r>
          </a:p>
          <a:p>
            <a:pPr lvl="1"/>
            <a:r>
              <a:rPr lang="en-US" sz="1600" dirty="0" smtClean="0"/>
              <a:t>derive the laws of arithmetic from first principles (Hilbert's 2nd problem)</a:t>
            </a:r>
          </a:p>
          <a:p>
            <a:r>
              <a:rPr lang="en-US" sz="1800" b="1" dirty="0" smtClean="0">
                <a:cs typeface="Optima"/>
              </a:rPr>
              <a:t>Bertrand Russell</a:t>
            </a:r>
            <a:r>
              <a:rPr lang="en-US" sz="1800" dirty="0" smtClean="0">
                <a:cs typeface="Optima"/>
              </a:rPr>
              <a:t> (1872 </a:t>
            </a:r>
            <a:r>
              <a:rPr lang="en-US" sz="1800" dirty="0">
                <a:cs typeface="Optima"/>
              </a:rPr>
              <a:t>- </a:t>
            </a:r>
            <a:r>
              <a:rPr lang="en-US" sz="1800" dirty="0" smtClean="0">
                <a:cs typeface="Optima"/>
              </a:rPr>
              <a:t>1970)</a:t>
            </a:r>
          </a:p>
          <a:p>
            <a:pPr lvl="1"/>
            <a:r>
              <a:rPr lang="en-US" sz="1600" dirty="0" smtClean="0">
                <a:cs typeface="Optima"/>
              </a:rPr>
              <a:t>paradox, inconsistency in Frege's logical system, tried to fix it</a:t>
            </a:r>
          </a:p>
          <a:p>
            <a:pPr lvl="1"/>
            <a:r>
              <a:rPr lang="en-US" sz="1600" dirty="0" smtClean="0">
                <a:cs typeface="Optima"/>
              </a:rPr>
              <a:t>Principia Mathematica</a:t>
            </a:r>
          </a:p>
          <a:p>
            <a:r>
              <a:rPr lang="en-US" sz="1800" b="1" dirty="0" smtClean="0">
                <a:cs typeface="Optima"/>
              </a:rPr>
              <a:t>Kurt </a:t>
            </a:r>
            <a:r>
              <a:rPr lang="en-US" sz="1800" b="1" dirty="0">
                <a:cs typeface="Optima"/>
              </a:rPr>
              <a:t>Gödel</a:t>
            </a:r>
            <a:r>
              <a:rPr lang="en-US" sz="1800" dirty="0">
                <a:cs typeface="Optima"/>
              </a:rPr>
              <a:t> </a:t>
            </a:r>
            <a:r>
              <a:rPr lang="en-US" sz="1800" dirty="0" smtClean="0">
                <a:cs typeface="Optima"/>
              </a:rPr>
              <a:t>(1906 </a:t>
            </a:r>
            <a:r>
              <a:rPr lang="en-US" sz="1800" dirty="0">
                <a:cs typeface="Optima"/>
              </a:rPr>
              <a:t>- </a:t>
            </a:r>
            <a:r>
              <a:rPr lang="en-US" sz="1800" dirty="0" smtClean="0">
                <a:cs typeface="Optima"/>
              </a:rPr>
              <a:t>1978)</a:t>
            </a:r>
          </a:p>
          <a:p>
            <a:pPr lvl="1"/>
            <a:r>
              <a:rPr lang="en-US" sz="1600" dirty="0" smtClean="0">
                <a:cs typeface="Optima"/>
              </a:rPr>
              <a:t>incompleteness theorems</a:t>
            </a:r>
            <a:endParaRPr lang="en-US" sz="1800" dirty="0">
              <a:cs typeface="Optima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028701"/>
            <a:ext cx="2220443" cy="32004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23</a:t>
            </a:fld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57200" y="4305300"/>
            <a:ext cx="8382000" cy="114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5739" indent="-285739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9100" indent="-238115" algn="l" defTabSz="7619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2462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3447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431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5416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smtClean="0">
                <a:cs typeface="Optima"/>
              </a:rPr>
              <a:t>Gerhard </a:t>
            </a:r>
            <a:r>
              <a:rPr lang="en-US" sz="1800" b="1" dirty="0" err="1" smtClean="0">
                <a:cs typeface="Optima"/>
              </a:rPr>
              <a:t>Gentzen</a:t>
            </a:r>
            <a:r>
              <a:rPr lang="en-US" sz="1800" dirty="0" smtClean="0">
                <a:cs typeface="Optima"/>
              </a:rPr>
              <a:t> (1909-1945) -- consistency of arithmetic</a:t>
            </a:r>
          </a:p>
          <a:p>
            <a:r>
              <a:rPr lang="en-US" sz="1800" b="1" dirty="0" smtClean="0">
                <a:cs typeface="Optima"/>
              </a:rPr>
              <a:t>Alonzo Church</a:t>
            </a:r>
            <a:r>
              <a:rPr lang="en-US" sz="1800" dirty="0" smtClean="0">
                <a:cs typeface="Optima"/>
              </a:rPr>
              <a:t> (1903 - 1995) -- </a:t>
            </a:r>
            <a:r>
              <a:rPr lang="en-US" sz="1800" dirty="0">
                <a:cs typeface="Optima"/>
              </a:rPr>
              <a:t>lambda </a:t>
            </a:r>
            <a:r>
              <a:rPr lang="en-US" sz="1800" dirty="0" smtClean="0">
                <a:cs typeface="Optima"/>
              </a:rPr>
              <a:t>calculus, simple theory of types </a:t>
            </a:r>
          </a:p>
          <a:p>
            <a:r>
              <a:rPr lang="en-US" sz="1800" b="1" dirty="0" smtClean="0">
                <a:cs typeface="Optima"/>
              </a:rPr>
              <a:t>Alan Turing</a:t>
            </a:r>
            <a:r>
              <a:rPr lang="en-US" sz="1800" dirty="0" smtClean="0">
                <a:cs typeface="Optima"/>
              </a:rPr>
              <a:t> (1912 - 1954) -- undecidability of arithmetic, halting problem</a:t>
            </a:r>
          </a:p>
          <a:p>
            <a:r>
              <a:rPr lang="en-US" sz="1800" dirty="0" smtClean="0">
                <a:cs typeface="Optima"/>
              </a:rPr>
              <a:t>...</a:t>
            </a:r>
            <a:endParaRPr lang="en-US" sz="1800" dirty="0"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399877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9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/>
          <a:lstStyle/>
          <a:p>
            <a:r>
              <a:rPr lang="en-US" b="1" dirty="0" smtClean="0"/>
              <a:t>Logics and computer science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4900"/>
            <a:ext cx="8229600" cy="3771636"/>
          </a:xfrm>
        </p:spPr>
        <p:txBody>
          <a:bodyPr>
            <a:noAutofit/>
          </a:bodyPr>
          <a:lstStyle/>
          <a:p>
            <a:r>
              <a:rPr lang="en-US" sz="2400" dirty="0" smtClean="0"/>
              <a:t>Logics is a foundation </a:t>
            </a:r>
            <a:r>
              <a:rPr lang="en-US" sz="2400" dirty="0"/>
              <a:t>of </a:t>
            </a:r>
            <a:r>
              <a:rPr lang="en-US" sz="2400" b="1" dirty="0">
                <a:solidFill>
                  <a:schemeClr val="tx2"/>
                </a:solidFill>
              </a:rPr>
              <a:t>mathematics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chemeClr val="tx2"/>
                </a:solidFill>
              </a:rPr>
              <a:t>computer science</a:t>
            </a:r>
          </a:p>
          <a:p>
            <a:pPr lvl="1"/>
            <a:r>
              <a:rPr lang="en-US" sz="2000" b="1" dirty="0" smtClean="0"/>
              <a:t>precise </a:t>
            </a:r>
            <a:r>
              <a:rPr lang="en-US" sz="2000" b="1" dirty="0"/>
              <a:t>proofs</a:t>
            </a:r>
            <a:r>
              <a:rPr lang="en-US" sz="2000" dirty="0"/>
              <a:t> with respect to </a:t>
            </a:r>
            <a:r>
              <a:rPr lang="en-US" sz="2000" b="1" dirty="0"/>
              <a:t>valid inference steps/rules</a:t>
            </a:r>
          </a:p>
          <a:p>
            <a:r>
              <a:rPr lang="en-US" sz="2400" b="1" dirty="0" smtClean="0">
                <a:solidFill>
                  <a:schemeClr val="tx2"/>
                </a:solidFill>
              </a:rPr>
              <a:t>Logics and CS greatly influenced each other</a:t>
            </a:r>
            <a:r>
              <a:rPr lang="en-US" sz="2400" dirty="0" smtClean="0"/>
              <a:t>, e.g.:</a:t>
            </a:r>
          </a:p>
          <a:p>
            <a:pPr lvl="1"/>
            <a:r>
              <a:rPr lang="en-US" sz="2000" b="1" dirty="0" smtClean="0"/>
              <a:t>automated </a:t>
            </a:r>
            <a:r>
              <a:rPr lang="en-US" sz="2000" b="1" dirty="0"/>
              <a:t>theorem provers</a:t>
            </a:r>
            <a:r>
              <a:rPr lang="en-US" sz="2000" dirty="0"/>
              <a:t> (e.g., SAT and SMT solvers</a:t>
            </a:r>
            <a:r>
              <a:rPr lang="en-US" sz="2000" dirty="0" smtClean="0"/>
              <a:t>)</a:t>
            </a:r>
          </a:p>
          <a:p>
            <a:pPr lvl="1"/>
            <a:r>
              <a:rPr lang="en-US" sz="2000" b="1" dirty="0" smtClean="0"/>
              <a:t>model checkers</a:t>
            </a:r>
            <a:endParaRPr lang="en-US" sz="2000" dirty="0"/>
          </a:p>
          <a:p>
            <a:pPr lvl="1"/>
            <a:r>
              <a:rPr lang="en-US" sz="2000" b="1" dirty="0" smtClean="0"/>
              <a:t>proof </a:t>
            </a:r>
            <a:r>
              <a:rPr lang="en-US" sz="2000" b="1" dirty="0"/>
              <a:t>assistants</a:t>
            </a:r>
            <a:r>
              <a:rPr lang="en-US" sz="2000" dirty="0"/>
              <a:t>: </a:t>
            </a:r>
            <a:r>
              <a:rPr lang="en-US" sz="2000" dirty="0" err="1" smtClean="0"/>
              <a:t>Rocq</a:t>
            </a:r>
            <a:r>
              <a:rPr lang="en-US" sz="2000" dirty="0" smtClean="0"/>
              <a:t>, </a:t>
            </a:r>
            <a:r>
              <a:rPr lang="en-US" sz="2000" dirty="0"/>
              <a:t>Isabelle, HOL family, F*, ACL2, etc.</a:t>
            </a:r>
            <a:endParaRPr lang="en-US" sz="2400" dirty="0"/>
          </a:p>
          <a:p>
            <a:pPr lvl="2"/>
            <a:r>
              <a:rPr lang="en-US" dirty="0" smtClean="0"/>
              <a:t>interactively constructed, machine-checked proofs</a:t>
            </a:r>
          </a:p>
          <a:p>
            <a:pPr lvl="2"/>
            <a:r>
              <a:rPr lang="en-US" dirty="0" smtClean="0"/>
              <a:t>addictive, gamification </a:t>
            </a:r>
            <a:r>
              <a:rPr lang="en-US" dirty="0"/>
              <a:t>of </a:t>
            </a:r>
            <a:r>
              <a:rPr lang="en-US" dirty="0" smtClean="0"/>
              <a:t>proofs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3598736"/>
            <a:ext cx="1530100" cy="169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96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2500"/>
          </a:xfrm>
        </p:spPr>
        <p:txBody>
          <a:bodyPr/>
          <a:lstStyle/>
          <a:p>
            <a:r>
              <a:rPr lang="en-US" b="1" dirty="0" smtClean="0"/>
              <a:t>Logics and proofs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8700"/>
            <a:ext cx="8229600" cy="4419600"/>
          </a:xfrm>
        </p:spPr>
        <p:txBody>
          <a:bodyPr>
            <a:noAutofit/>
          </a:bodyPr>
          <a:lstStyle/>
          <a:p>
            <a:r>
              <a:rPr lang="en-US" sz="2400" dirty="0" smtClean="0"/>
              <a:t>Foundation of </a:t>
            </a:r>
            <a:r>
              <a:rPr lang="en-US" sz="2400" b="1" dirty="0" smtClean="0">
                <a:solidFill>
                  <a:schemeClr val="tx2"/>
                </a:solidFill>
              </a:rPr>
              <a:t>mathematics</a:t>
            </a:r>
            <a:r>
              <a:rPr lang="en-US" sz="2400" dirty="0" smtClean="0"/>
              <a:t> and </a:t>
            </a:r>
            <a:r>
              <a:rPr lang="en-US" sz="2400" b="1" dirty="0" smtClean="0">
                <a:solidFill>
                  <a:schemeClr val="tx2"/>
                </a:solidFill>
              </a:rPr>
              <a:t>computer science</a:t>
            </a:r>
          </a:p>
          <a:p>
            <a:pPr lvl="1"/>
            <a:r>
              <a:rPr lang="en-US" sz="2000" b="1" dirty="0"/>
              <a:t>formal </a:t>
            </a:r>
            <a:r>
              <a:rPr lang="en-US" sz="2000" b="1" dirty="0" smtClean="0"/>
              <a:t>proofs</a:t>
            </a:r>
            <a:r>
              <a:rPr lang="en-US" sz="2000" dirty="0" smtClean="0"/>
              <a:t> with respect to </a:t>
            </a:r>
            <a:r>
              <a:rPr lang="en-US" sz="2000" b="1" dirty="0" smtClean="0"/>
              <a:t>valid inference steps/rules</a:t>
            </a:r>
          </a:p>
          <a:p>
            <a:r>
              <a:rPr lang="en-US" sz="2400" b="1" dirty="0" smtClean="0"/>
              <a:t>This course: </a:t>
            </a:r>
            <a:r>
              <a:rPr lang="en-US" sz="2400" b="1" dirty="0" smtClean="0">
                <a:solidFill>
                  <a:srgbClr val="C00000"/>
                </a:solidFill>
              </a:rPr>
              <a:t>typed constructive </a:t>
            </a:r>
            <a:r>
              <a:rPr lang="en-US" sz="2400" b="1" dirty="0">
                <a:solidFill>
                  <a:srgbClr val="C00000"/>
                </a:solidFill>
              </a:rPr>
              <a:t>higher-order </a:t>
            </a:r>
            <a:r>
              <a:rPr lang="en-US" sz="2400" b="1" dirty="0" smtClean="0">
                <a:solidFill>
                  <a:srgbClr val="C00000"/>
                </a:solidFill>
              </a:rPr>
              <a:t>logic</a:t>
            </a:r>
          </a:p>
          <a:p>
            <a:pPr lvl="1"/>
            <a:r>
              <a:rPr lang="en-US" sz="2000" b="1" dirty="0" smtClean="0"/>
              <a:t>higher-order</a:t>
            </a:r>
            <a:endParaRPr lang="en-US" sz="2000" dirty="0"/>
          </a:p>
          <a:p>
            <a:pPr lvl="2"/>
            <a:r>
              <a:rPr lang="en-US" dirty="0" smtClean="0"/>
              <a:t>can quantify not only </a:t>
            </a:r>
            <a:r>
              <a:rPr lang="en-US" dirty="0"/>
              <a:t>over individuals (</a:t>
            </a:r>
            <a:r>
              <a:rPr lang="en-US" dirty="0" smtClean="0"/>
              <a:t>∀</a:t>
            </a:r>
            <a:r>
              <a:rPr lang="en-US" dirty="0" err="1" smtClean="0"/>
              <a:t>x:nat</a:t>
            </a:r>
            <a:r>
              <a:rPr lang="en-US" dirty="0" smtClean="0"/>
              <a:t>. </a:t>
            </a:r>
            <a:r>
              <a:rPr lang="en-US" dirty="0"/>
              <a:t>P </a:t>
            </a:r>
            <a:r>
              <a:rPr lang="en-US" dirty="0" smtClean="0"/>
              <a:t>x)</a:t>
            </a:r>
          </a:p>
          <a:p>
            <a:pPr lvl="2"/>
            <a:r>
              <a:rPr lang="en-US" dirty="0" smtClean="0"/>
              <a:t>but also over </a:t>
            </a:r>
            <a:r>
              <a:rPr lang="en-US" dirty="0"/>
              <a:t>propositions (</a:t>
            </a:r>
            <a:r>
              <a:rPr lang="en-US" dirty="0" smtClean="0"/>
              <a:t>∀</a:t>
            </a:r>
            <a:r>
              <a:rPr lang="en-US" dirty="0" err="1" smtClean="0"/>
              <a:t>P:Prop</a:t>
            </a:r>
            <a:r>
              <a:rPr lang="en-US" dirty="0" smtClean="0"/>
              <a:t>. P),</a:t>
            </a:r>
            <a:br>
              <a:rPr lang="en-US" dirty="0" smtClean="0"/>
            </a:br>
            <a:r>
              <a:rPr lang="en-US" dirty="0" smtClean="0"/>
              <a:t>predicates (∀</a:t>
            </a:r>
            <a:r>
              <a:rPr lang="en-US" dirty="0" err="1" smtClean="0"/>
              <a:t>Q:nat</a:t>
            </a:r>
            <a:r>
              <a:rPr lang="en-US" dirty="0" smtClean="0"/>
              <a:t>-&gt;Prop. Q x), relations (∀</a:t>
            </a:r>
            <a:r>
              <a:rPr lang="en-US" dirty="0" err="1" smtClean="0"/>
              <a:t>R:nat</a:t>
            </a:r>
            <a:r>
              <a:rPr lang="en-US" dirty="0" smtClean="0"/>
              <a:t>-&gt;</a:t>
            </a:r>
            <a:r>
              <a:rPr lang="en-US" dirty="0" err="1" smtClean="0"/>
              <a:t>nat</a:t>
            </a:r>
            <a:r>
              <a:rPr lang="en-US" dirty="0" smtClean="0"/>
              <a:t>-&gt;Prop. R x y), </a:t>
            </a:r>
            <a:r>
              <a:rPr lang="en-US" dirty="0"/>
              <a:t>functions (</a:t>
            </a:r>
            <a:r>
              <a:rPr lang="en-US" dirty="0" smtClean="0"/>
              <a:t>∀</a:t>
            </a:r>
            <a:r>
              <a:rPr lang="en-US" dirty="0" err="1" smtClean="0"/>
              <a:t>f:nat</a:t>
            </a:r>
            <a:r>
              <a:rPr lang="en-US" dirty="0" smtClean="0"/>
              <a:t>-&gt;bool, ∀g:(</a:t>
            </a:r>
            <a:r>
              <a:rPr lang="en-US" dirty="0"/>
              <a:t>nat-</a:t>
            </a:r>
            <a:r>
              <a:rPr lang="en-US" dirty="0" smtClean="0"/>
              <a:t>&gt;bool)-&gt;bool), ...</a:t>
            </a:r>
          </a:p>
          <a:p>
            <a:pPr lvl="1"/>
            <a:r>
              <a:rPr lang="en-US" sz="2000" b="1" dirty="0"/>
              <a:t>constructive</a:t>
            </a:r>
            <a:r>
              <a:rPr lang="en-US" sz="2000" dirty="0"/>
              <a:t>, aka </a:t>
            </a:r>
            <a:r>
              <a:rPr lang="en-US" sz="2000" b="1" dirty="0"/>
              <a:t>intuitionistic logic</a:t>
            </a:r>
            <a:r>
              <a:rPr lang="en-US" sz="2000" dirty="0"/>
              <a:t>:</a:t>
            </a:r>
          </a:p>
          <a:p>
            <a:pPr lvl="2"/>
            <a:r>
              <a:rPr lang="en-US" sz="1800" dirty="0"/>
              <a:t>a proposition is valid if one can construct a proof</a:t>
            </a:r>
          </a:p>
          <a:p>
            <a:pPr lvl="2"/>
            <a:r>
              <a:rPr lang="en-US" sz="1800" dirty="0"/>
              <a:t>philosophically rejects excluded middle (P ∨ ¬P, classical logic</a:t>
            </a:r>
            <a:r>
              <a:rPr lang="en-US" sz="1800" dirty="0" smtClean="0"/>
              <a:t>)</a:t>
            </a:r>
            <a:endParaRPr lang="en-US" dirty="0" smtClean="0"/>
          </a:p>
          <a:p>
            <a:pPr lvl="1"/>
            <a:r>
              <a:rPr lang="en-US" sz="2000" b="1" dirty="0" smtClean="0"/>
              <a:t>typed</a:t>
            </a:r>
            <a:r>
              <a:rPr lang="en-US" sz="2000" dirty="0" smtClean="0"/>
              <a:t> (dependently typed)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9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794208"/>
            <a:ext cx="3886199" cy="16802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5"/>
            <a:ext cx="8382000" cy="9525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Machine-checked proofs of </a:t>
            </a:r>
            <a:r>
              <a:rPr lang="en-US" sz="3600" b="1" dirty="0" smtClean="0">
                <a:solidFill>
                  <a:schemeClr val="tx2"/>
                </a:solidFill>
              </a:rPr>
              <a:t>math theorems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800100"/>
            <a:ext cx="8839199" cy="3886200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The 4-color theorem</a:t>
            </a:r>
          </a:p>
          <a:p>
            <a:pPr lvl="1"/>
            <a:r>
              <a:rPr lang="en-US" sz="1800" dirty="0" smtClean="0"/>
              <a:t>proved in 1976, simplified in 1996</a:t>
            </a:r>
          </a:p>
          <a:p>
            <a:pPr lvl="1"/>
            <a:r>
              <a:rPr lang="en-US" sz="1800" dirty="0" smtClean="0"/>
              <a:t>proofs rely on a computer</a:t>
            </a:r>
          </a:p>
          <a:p>
            <a:pPr lvl="1"/>
            <a:r>
              <a:rPr lang="en-US" sz="1800" dirty="0" smtClean="0"/>
              <a:t>infeasible </a:t>
            </a:r>
            <a:r>
              <a:rPr lang="en-US" sz="1800" dirty="0"/>
              <a:t>for a human to </a:t>
            </a:r>
            <a:r>
              <a:rPr lang="en-US" sz="1800" dirty="0" smtClean="0"/>
              <a:t>check</a:t>
            </a:r>
          </a:p>
          <a:p>
            <a:pPr lvl="1"/>
            <a:r>
              <a:rPr lang="en-US" sz="1800" dirty="0" smtClean="0"/>
              <a:t>initially not </a:t>
            </a:r>
            <a:r>
              <a:rPr lang="en-US" sz="1800" dirty="0"/>
              <a:t>accepted by all mathematicians</a:t>
            </a:r>
          </a:p>
          <a:p>
            <a:pPr lvl="1"/>
            <a:r>
              <a:rPr lang="en-US" sz="1800" dirty="0" smtClean="0"/>
              <a:t>mechanized in </a:t>
            </a:r>
            <a:r>
              <a:rPr lang="en-US" sz="1800" dirty="0" err="1" smtClean="0"/>
              <a:t>Rocq</a:t>
            </a:r>
            <a:r>
              <a:rPr lang="en-US" sz="1800" dirty="0" smtClean="0"/>
              <a:t> by Georges Gonthier in 2005 </a:t>
            </a:r>
          </a:p>
          <a:p>
            <a:pPr>
              <a:lnSpc>
                <a:spcPct val="120000"/>
              </a:lnSpc>
            </a:pPr>
            <a:r>
              <a:rPr lang="en-US" sz="2000" b="1" dirty="0" smtClean="0"/>
              <a:t>Construction </a:t>
            </a:r>
            <a:r>
              <a:rPr lang="en-US" sz="2000" b="1" dirty="0"/>
              <a:t>of perfectoid spaces</a:t>
            </a:r>
            <a:r>
              <a:rPr lang="en-US" sz="2000" dirty="0"/>
              <a:t> </a:t>
            </a:r>
            <a:r>
              <a:rPr lang="en-US" sz="2000" dirty="0" smtClean="0"/>
              <a:t>(Peter Scholze, Lean community, 2020)</a:t>
            </a:r>
          </a:p>
          <a:p>
            <a:pPr lvl="1"/>
            <a:r>
              <a:rPr lang="en-US" sz="1800" dirty="0"/>
              <a:t>Mathlib math library for Lean has over 100,000 theorems, over 1,000,000 lines of code, and an active community including many mathematicians (e.g. Terence </a:t>
            </a:r>
            <a:r>
              <a:rPr lang="en-US" sz="1800" dirty="0" smtClean="0"/>
              <a:t>Tao)</a:t>
            </a:r>
          </a:p>
          <a:p>
            <a:r>
              <a:rPr lang="en-US" sz="2000" b="1" dirty="0" smtClean="0"/>
              <a:t>AlphaProof: Google DeepMind AI achieves silver medalist level in IMO (2024)</a:t>
            </a:r>
          </a:p>
          <a:p>
            <a:pPr lvl="1"/>
            <a:r>
              <a:rPr lang="en-US" sz="1800" dirty="0" smtClean="0"/>
              <a:t>Key ingredient: the Lean proof assistant checks each step of the AI</a:t>
            </a:r>
          </a:p>
          <a:p>
            <a:pPr lvl="1"/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26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58000" y="2476500"/>
            <a:ext cx="22677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[World map from Wikipedia]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67" t="14422" r="1" b="161"/>
          <a:stretch/>
        </p:blipFill>
        <p:spPr>
          <a:xfrm>
            <a:off x="2895600" y="4578296"/>
            <a:ext cx="3382384" cy="113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5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9906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 smtClean="0"/>
              <a:t>Verifying realistic </a:t>
            </a:r>
            <a:r>
              <a:rPr lang="en-US" sz="3600" b="1" u="sng" dirty="0" smtClean="0"/>
              <a:t>imperative</a:t>
            </a:r>
            <a:r>
              <a:rPr lang="en-US" sz="3600" b="1" dirty="0" smtClean="0"/>
              <a:t> programs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04900"/>
            <a:ext cx="8686800" cy="3886199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sz="2000" b="1" dirty="0" smtClean="0">
                <a:solidFill>
                  <a:srgbClr val="C00000"/>
                </a:solidFill>
              </a:rPr>
              <a:t>the </a:t>
            </a:r>
            <a:r>
              <a:rPr lang="en-US" sz="2000" b="1" dirty="0">
                <a:solidFill>
                  <a:srgbClr val="C00000"/>
                </a:solidFill>
              </a:rPr>
              <a:t>seL4 </a:t>
            </a:r>
            <a:r>
              <a:rPr lang="en-US" sz="2000" b="1" dirty="0" smtClean="0">
                <a:solidFill>
                  <a:srgbClr val="C00000"/>
                </a:solidFill>
              </a:rPr>
              <a:t>OS microkernel</a:t>
            </a:r>
            <a:r>
              <a:rPr lang="en-US" sz="2000" dirty="0" smtClean="0"/>
              <a:t> </a:t>
            </a:r>
            <a:r>
              <a:rPr lang="en-US" sz="2000" dirty="0"/>
              <a:t>(Isabelle/HOL), </a:t>
            </a:r>
            <a:r>
              <a:rPr lang="en-US" sz="2000" b="1" dirty="0">
                <a:solidFill>
                  <a:srgbClr val="C00000"/>
                </a:solidFill>
              </a:rPr>
              <a:t>the CertiKOS hypervisor</a:t>
            </a:r>
            <a:r>
              <a:rPr lang="en-US" sz="2000" dirty="0"/>
              <a:t> </a:t>
            </a:r>
            <a:r>
              <a:rPr lang="en-US" sz="2000" dirty="0" smtClean="0"/>
              <a:t>(</a:t>
            </a:r>
            <a:r>
              <a:rPr lang="en-US" sz="2000" dirty="0" err="1" smtClean="0"/>
              <a:t>Rocq</a:t>
            </a:r>
            <a:r>
              <a:rPr lang="en-US" sz="2000" dirty="0" smtClean="0"/>
              <a:t>)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b="1" dirty="0" smtClean="0">
                <a:solidFill>
                  <a:srgbClr val="C00000"/>
                </a:solidFill>
              </a:rPr>
              <a:t>EverCrypt cryptographic library</a:t>
            </a:r>
            <a:r>
              <a:rPr lang="en-US" sz="2000" dirty="0"/>
              <a:t> (F*)</a:t>
            </a:r>
            <a:r>
              <a:rPr lang="en-US" sz="2000" dirty="0" smtClean="0"/>
              <a:t> -- shipping in Firefox and the Linux kernel</a:t>
            </a:r>
          </a:p>
          <a:p>
            <a:pPr>
              <a:lnSpc>
                <a:spcPct val="130000"/>
              </a:lnSpc>
            </a:pPr>
            <a:r>
              <a:rPr lang="en-US" sz="2000" b="1" dirty="0" smtClean="0">
                <a:solidFill>
                  <a:srgbClr val="C00000"/>
                </a:solidFill>
              </a:rPr>
              <a:t>EverParse3D verified binary </a:t>
            </a:r>
            <a:r>
              <a:rPr lang="en-US" sz="2000" b="1" dirty="0">
                <a:solidFill>
                  <a:srgbClr val="C00000"/>
                </a:solidFill>
              </a:rPr>
              <a:t>parsers</a:t>
            </a:r>
            <a:r>
              <a:rPr lang="en-US" sz="2000" dirty="0"/>
              <a:t> (F*) </a:t>
            </a:r>
            <a:r>
              <a:rPr lang="en-US" sz="2000" dirty="0" smtClean="0"/>
              <a:t>-- shipping in the Windows kernel</a:t>
            </a:r>
          </a:p>
          <a:p>
            <a:pPr lvl="1">
              <a:lnSpc>
                <a:spcPct val="130000"/>
              </a:lnSpc>
            </a:pPr>
            <a:r>
              <a:rPr lang="en-US" sz="1800" dirty="0"/>
              <a:t>C</a:t>
            </a:r>
            <a:r>
              <a:rPr lang="ro-RO" sz="1800" dirty="0" smtClean="0"/>
              <a:t>ătălin</a:t>
            </a:r>
            <a:r>
              <a:rPr lang="en-US" sz="1800" dirty="0" smtClean="0"/>
              <a:t>, Cezar, et al designing and using F* proof assistant, which combines</a:t>
            </a:r>
            <a:br>
              <a:rPr lang="en-US" sz="1800" dirty="0" smtClean="0"/>
            </a:br>
            <a:r>
              <a:rPr lang="en-US" sz="1800" dirty="0"/>
              <a:t>features </a:t>
            </a:r>
            <a:r>
              <a:rPr lang="en-US" sz="1800" dirty="0" smtClean="0"/>
              <a:t>of </a:t>
            </a:r>
            <a:r>
              <a:rPr lang="en-US" sz="1800" dirty="0" err="1" smtClean="0"/>
              <a:t>Rocq</a:t>
            </a:r>
            <a:r>
              <a:rPr lang="en-US" sz="1800" dirty="0" smtClean="0"/>
              <a:t> </a:t>
            </a:r>
            <a:r>
              <a:rPr lang="en-US" sz="1800" dirty="0"/>
              <a:t>(</a:t>
            </a:r>
            <a:r>
              <a:rPr lang="en-US" sz="1800" dirty="0" smtClean="0"/>
              <a:t>dependent types) with Hoare Logic verification (Dijkstra monads)</a:t>
            </a:r>
          </a:p>
          <a:p>
            <a:pPr>
              <a:lnSpc>
                <a:spcPct val="130000"/>
              </a:lnSpc>
            </a:pPr>
            <a:r>
              <a:rPr lang="en-US" sz="2000" b="1" dirty="0" smtClean="0">
                <a:solidFill>
                  <a:srgbClr val="C00000"/>
                </a:solidFill>
              </a:rPr>
              <a:t>Libjade high-assurance post-quantum crypto library</a:t>
            </a:r>
            <a:r>
              <a:rPr lang="en-US" sz="2000" dirty="0" smtClean="0"/>
              <a:t> (EasyCrypt, MPI-SP </a:t>
            </a:r>
            <a:r>
              <a:rPr lang="en-US" sz="2000" dirty="0"/>
              <a:t>et al)</a:t>
            </a:r>
            <a:endParaRPr lang="en-US" sz="2000" dirty="0" smtClean="0"/>
          </a:p>
          <a:p>
            <a:pPr lvl="1">
              <a:lnSpc>
                <a:spcPct val="130000"/>
              </a:lnSpc>
            </a:pPr>
            <a:r>
              <a:rPr lang="en-US" sz="1800" dirty="0"/>
              <a:t>EasyCrypt proof assistant </a:t>
            </a:r>
            <a:r>
              <a:rPr lang="en-US" sz="1800" dirty="0" smtClean="0"/>
              <a:t>using </a:t>
            </a:r>
            <a:r>
              <a:rPr lang="en-US" sz="1800" u="sng" dirty="0" smtClean="0"/>
              <a:t>Probabilistic</a:t>
            </a:r>
            <a:r>
              <a:rPr lang="en-US" sz="1800" dirty="0" smtClean="0"/>
              <a:t> </a:t>
            </a:r>
            <a:r>
              <a:rPr lang="en-US" sz="1800" dirty="0"/>
              <a:t>Relational Hoare Logic (</a:t>
            </a:r>
            <a:r>
              <a:rPr lang="en-US" sz="1800" dirty="0" smtClean="0"/>
              <a:t>MPI-SP </a:t>
            </a:r>
            <a:r>
              <a:rPr lang="en-US" sz="1800" dirty="0"/>
              <a:t>et al</a:t>
            </a:r>
            <a:r>
              <a:rPr lang="en-US" sz="1800" dirty="0" smtClean="0"/>
              <a:t>)</a:t>
            </a:r>
          </a:p>
          <a:p>
            <a:pPr>
              <a:lnSpc>
                <a:spcPct val="130000"/>
              </a:lnSpc>
            </a:pPr>
            <a:r>
              <a:rPr lang="en-US" sz="2000" b="1" dirty="0" smtClean="0">
                <a:solidFill>
                  <a:srgbClr val="C00000"/>
                </a:solidFill>
              </a:rPr>
              <a:t>Verification </a:t>
            </a:r>
            <a:r>
              <a:rPr lang="en-US" sz="2000" b="1" dirty="0">
                <a:solidFill>
                  <a:srgbClr val="C00000"/>
                </a:solidFill>
              </a:rPr>
              <a:t>of smart contracts</a:t>
            </a:r>
            <a:r>
              <a:rPr lang="en-US" sz="2000" dirty="0"/>
              <a:t> </a:t>
            </a:r>
            <a:r>
              <a:rPr lang="en-US" sz="2000" dirty="0" smtClean="0"/>
              <a:t>(</a:t>
            </a:r>
            <a:r>
              <a:rPr lang="en-US" sz="2000" dirty="0" err="1" smtClean="0"/>
              <a:t>Rocq</a:t>
            </a:r>
            <a:r>
              <a:rPr lang="en-US" sz="2000" dirty="0" smtClean="0"/>
              <a:t>, </a:t>
            </a:r>
            <a:r>
              <a:rPr lang="en-US" sz="2000" dirty="0"/>
              <a:t>F*, </a:t>
            </a:r>
            <a:r>
              <a:rPr lang="en-US" sz="2000" dirty="0" smtClean="0"/>
              <a:t>...)</a:t>
            </a:r>
          </a:p>
          <a:p>
            <a:pPr lvl="1">
              <a:lnSpc>
                <a:spcPct val="130000"/>
              </a:lnSpc>
            </a:pPr>
            <a:r>
              <a:rPr lang="en-US" sz="1666" dirty="0" smtClean="0"/>
              <a:t>Clara, Jana, and their groups at MPI-SP working </a:t>
            </a:r>
            <a:r>
              <a:rPr lang="en-US" sz="1666" dirty="0"/>
              <a:t>on this hot topic</a:t>
            </a:r>
            <a:endParaRPr lang="en-US" sz="1666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BA9C-1FBB-4D46-B089-AB487B58273B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822" y="342900"/>
            <a:ext cx="1042378" cy="115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2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F7F7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52793</TotalTime>
  <Words>2401</Words>
  <Application>Microsoft Office PowerPoint</Application>
  <PresentationFormat>On-screen Show (16:10)</PresentationFormat>
  <Paragraphs>325</Paragraphs>
  <Slides>27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Optima</vt:lpstr>
      <vt:lpstr>Office Theme</vt:lpstr>
      <vt:lpstr>Proofs are Programs Summer 2026 @ Ruhr Uni Bochum</vt:lpstr>
      <vt:lpstr>This course in a nutshell</vt:lpstr>
      <vt:lpstr>The Rocq proof assistant</vt:lpstr>
      <vt:lpstr>Functional programming</vt:lpstr>
      <vt:lpstr>Functional Programming in practice</vt:lpstr>
      <vt:lpstr>           proof that append is associative</vt:lpstr>
      <vt:lpstr>PowerPoint Presentation</vt:lpstr>
      <vt:lpstr>PowerPoint Presentation</vt:lpstr>
      <vt:lpstr>Formalizing simple imperative language</vt:lpstr>
      <vt:lpstr>Inductive relation</vt:lpstr>
      <vt:lpstr>PowerPoint Presentation</vt:lpstr>
      <vt:lpstr>Secure information flow</vt:lpstr>
      <vt:lpstr>More realistic leakage models for information flow</vt:lpstr>
      <vt:lpstr>In this course you will learn ...</vt:lpstr>
      <vt:lpstr>This course is very hands on</vt:lpstr>
      <vt:lpstr>Lecture logistics</vt:lpstr>
      <vt:lpstr>Exercises</vt:lpstr>
      <vt:lpstr>Tutorials: Q&amp;A about the exercise sheets</vt:lpstr>
      <vt:lpstr>Exams</vt:lpstr>
      <vt:lpstr>Credit and grade</vt:lpstr>
      <vt:lpstr>Backup Slides</vt:lpstr>
      <vt:lpstr>Logics and proofs</vt:lpstr>
      <vt:lpstr>The story of logics is quite fascinating</vt:lpstr>
      <vt:lpstr>Logics and computer science</vt:lpstr>
      <vt:lpstr>Logics and proofs</vt:lpstr>
      <vt:lpstr>Machine-checked proofs of math theorems</vt:lpstr>
      <vt:lpstr>Verifying realistic imperative programs</vt:lpstr>
    </vt:vector>
  </TitlesOfParts>
  <Company>Inria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Catalin Hritcu</dc:creator>
  <cp:lastModifiedBy>Catalin Hritcu</cp:lastModifiedBy>
  <cp:revision>2495</cp:revision>
  <dcterms:created xsi:type="dcterms:W3CDTF">2016-12-13T09:19:39Z</dcterms:created>
  <dcterms:modified xsi:type="dcterms:W3CDTF">2026-04-15T13:30:44Z</dcterms:modified>
</cp:coreProperties>
</file>